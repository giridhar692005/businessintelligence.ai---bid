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369A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39250"/>
            <a:ext cx="7560309" cy="7452995"/>
          </a:xfrm>
          <a:custGeom>
            <a:avLst/>
            <a:gdLst/>
            <a:ahLst/>
            <a:cxnLst/>
            <a:rect l="l" t="t" r="r" b="b"/>
            <a:pathLst>
              <a:path w="7560309" h="7452995">
                <a:moveTo>
                  <a:pt x="0" y="7452750"/>
                </a:moveTo>
                <a:lnTo>
                  <a:pt x="7559999" y="7452750"/>
                </a:lnTo>
                <a:lnTo>
                  <a:pt x="7559999" y="0"/>
                </a:lnTo>
                <a:lnTo>
                  <a:pt x="0" y="0"/>
                </a:lnTo>
                <a:lnTo>
                  <a:pt x="0" y="745275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7560309" cy="3239770"/>
          </a:xfrm>
          <a:custGeom>
            <a:avLst/>
            <a:gdLst/>
            <a:ahLst/>
            <a:cxnLst/>
            <a:rect l="l" t="t" r="r" b="b"/>
            <a:pathLst>
              <a:path w="7560309" h="3239770">
                <a:moveTo>
                  <a:pt x="7559999" y="3239249"/>
                </a:moveTo>
                <a:lnTo>
                  <a:pt x="0" y="3239249"/>
                </a:lnTo>
                <a:lnTo>
                  <a:pt x="0" y="0"/>
                </a:lnTo>
                <a:lnTo>
                  <a:pt x="7559999" y="0"/>
                </a:lnTo>
                <a:lnTo>
                  <a:pt x="7559999" y="3239249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39991" y="3782183"/>
            <a:ext cx="6480175" cy="4356735"/>
          </a:xfrm>
          <a:custGeom>
            <a:avLst/>
            <a:gdLst/>
            <a:ahLst/>
            <a:cxnLst/>
            <a:rect l="l" t="t" r="r" b="b"/>
            <a:pathLst>
              <a:path w="6480175" h="4356734">
                <a:moveTo>
                  <a:pt x="6479997" y="4346676"/>
                </a:moveTo>
                <a:lnTo>
                  <a:pt x="0" y="4346676"/>
                </a:lnTo>
                <a:lnTo>
                  <a:pt x="0" y="4356201"/>
                </a:lnTo>
                <a:lnTo>
                  <a:pt x="6479997" y="4356201"/>
                </a:lnTo>
                <a:lnTo>
                  <a:pt x="6479997" y="4346676"/>
                </a:lnTo>
                <a:close/>
              </a:path>
              <a:path w="6480175" h="4356734">
                <a:moveTo>
                  <a:pt x="6479997" y="0"/>
                </a:moveTo>
                <a:lnTo>
                  <a:pt x="0" y="0"/>
                </a:lnTo>
                <a:lnTo>
                  <a:pt x="0" y="9525"/>
                </a:lnTo>
                <a:lnTo>
                  <a:pt x="6479997" y="9525"/>
                </a:lnTo>
                <a:lnTo>
                  <a:pt x="6479997" y="0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369A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0309" cy="10692130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7559999" y="10691999"/>
                </a:moveTo>
                <a:lnTo>
                  <a:pt x="0" y="10691999"/>
                </a:lnTo>
                <a:lnTo>
                  <a:pt x="0" y="0"/>
                </a:lnTo>
                <a:lnTo>
                  <a:pt x="7559999" y="0"/>
                </a:lnTo>
                <a:lnTo>
                  <a:pt x="7559999" y="10691999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299" y="961308"/>
            <a:ext cx="4380230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7299" y="3460943"/>
            <a:ext cx="6503034" cy="5638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369A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/>
              <a:t>BID</a:t>
            </a:r>
            <a:r>
              <a:rPr dirty="0" spc="-55"/>
              <a:t> </a:t>
            </a:r>
            <a:r>
              <a:rPr dirty="0"/>
              <a:t>(Business</a:t>
            </a:r>
            <a:r>
              <a:rPr dirty="0" spc="-55"/>
              <a:t> </a:t>
            </a:r>
            <a:r>
              <a:rPr dirty="0" spc="-10"/>
              <a:t>Investigation Department)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299" y="2096078"/>
            <a:ext cx="541782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400">
                <a:solidFill>
                  <a:srgbClr val="38BCF7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400" spc="-20">
                <a:solidFill>
                  <a:srgbClr val="38BCF7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8BCF7"/>
                </a:solidFill>
                <a:latin typeface="Microsoft Sans Serif"/>
                <a:cs typeface="Microsoft Sans Serif"/>
              </a:rPr>
              <a:t>Proposal</a:t>
            </a:r>
            <a:r>
              <a:rPr dirty="0" sz="1400" spc="-20">
                <a:solidFill>
                  <a:srgbClr val="38BCF7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360">
                <a:solidFill>
                  <a:srgbClr val="38BCF7"/>
                </a:solidFill>
                <a:latin typeface="Microsoft Sans Serif"/>
                <a:cs typeface="Microsoft Sans Serif"/>
              </a:rPr>
              <a:t>–</a:t>
            </a:r>
            <a:r>
              <a:rPr dirty="0" sz="1400" spc="-20">
                <a:solidFill>
                  <a:srgbClr val="38BCF7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8BCF7"/>
                </a:solidFill>
                <a:latin typeface="Microsoft Sans Serif"/>
                <a:cs typeface="Microsoft Sans Serif"/>
              </a:rPr>
              <a:t>Accenture</a:t>
            </a:r>
            <a:r>
              <a:rPr dirty="0" sz="1400" spc="-20">
                <a:solidFill>
                  <a:srgbClr val="38BCF7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8BCF7"/>
                </a:solidFill>
                <a:latin typeface="Microsoft Sans Serif"/>
                <a:cs typeface="Microsoft Sans Serif"/>
              </a:rPr>
              <a:t>Innovation</a:t>
            </a:r>
            <a:r>
              <a:rPr dirty="0" sz="1400" spc="-20">
                <a:solidFill>
                  <a:srgbClr val="38BCF7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8BCF7"/>
                </a:solidFill>
                <a:latin typeface="Microsoft Sans Serif"/>
                <a:cs typeface="Microsoft Sans Serif"/>
              </a:rPr>
              <a:t>Challenge</a:t>
            </a:r>
            <a:r>
              <a:rPr dirty="0" sz="1400" spc="-20">
                <a:solidFill>
                  <a:srgbClr val="38BCF7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8BCF7"/>
                </a:solidFill>
                <a:latin typeface="Microsoft Sans Serif"/>
                <a:cs typeface="Microsoft Sans Serif"/>
              </a:rPr>
              <a:t>2026,</a:t>
            </a:r>
            <a:r>
              <a:rPr dirty="0" sz="1400" spc="-20">
                <a:solidFill>
                  <a:srgbClr val="38BCF7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8BCF7"/>
                </a:solidFill>
                <a:latin typeface="Microsoft Sans Serif"/>
                <a:cs typeface="Microsoft Sans Serif"/>
              </a:rPr>
              <a:t>Round</a:t>
            </a:r>
            <a:r>
              <a:rPr dirty="0" sz="1400" spc="-20">
                <a:solidFill>
                  <a:srgbClr val="38BCF7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0">
                <a:solidFill>
                  <a:srgbClr val="38BCF7"/>
                </a:solidFill>
                <a:latin typeface="Microsoft Sans Serif"/>
                <a:cs typeface="Microsoft Sans Serif"/>
              </a:rPr>
              <a:t>2 </a:t>
            </a:r>
            <a:r>
              <a:rPr dirty="0" sz="1400">
                <a:solidFill>
                  <a:srgbClr val="38BCF7"/>
                </a:solidFill>
                <a:latin typeface="Microsoft Sans Serif"/>
                <a:cs typeface="Microsoft Sans Serif"/>
              </a:rPr>
              <a:t>Problem</a:t>
            </a:r>
            <a:r>
              <a:rPr dirty="0" sz="1400" spc="-10">
                <a:solidFill>
                  <a:srgbClr val="38BCF7"/>
                </a:solidFill>
                <a:latin typeface="Microsoft Sans Serif"/>
                <a:cs typeface="Microsoft Sans Serif"/>
              </a:rPr>
              <a:t> Track</a:t>
            </a:r>
            <a:r>
              <a:rPr dirty="0" sz="1400" spc="-5">
                <a:solidFill>
                  <a:srgbClr val="38BCF7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8BCF7"/>
                </a:solidFill>
                <a:latin typeface="Microsoft Sans Serif"/>
                <a:cs typeface="Microsoft Sans Serif"/>
              </a:rPr>
              <a:t>3</a:t>
            </a:r>
            <a:r>
              <a:rPr dirty="0" sz="1400" spc="-5">
                <a:solidFill>
                  <a:srgbClr val="38BCF7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565">
                <a:solidFill>
                  <a:srgbClr val="38BCF7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-10">
                <a:solidFill>
                  <a:srgbClr val="38BCF7"/>
                </a:solidFill>
                <a:latin typeface="Microsoft Sans Serif"/>
                <a:cs typeface="Microsoft Sans Serif"/>
              </a:rPr>
              <a:t> BusinessIntelligence.ai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0185" indent="-197485">
              <a:lnSpc>
                <a:spcPct val="100000"/>
              </a:lnSpc>
              <a:spcBef>
                <a:spcPts val="100"/>
              </a:spcBef>
              <a:buClr>
                <a:srgbClr val="0369A1"/>
              </a:buClr>
              <a:buFont typeface="Arial"/>
              <a:buAutoNum type="arabicPeriod"/>
              <a:tabLst>
                <a:tab pos="210185" algn="l"/>
              </a:tabLst>
            </a:pPr>
            <a:r>
              <a:rPr dirty="0" spc="-10"/>
              <a:t>EXECUTIVE</a:t>
            </a:r>
            <a:r>
              <a:rPr dirty="0" spc="-40"/>
              <a:t> </a:t>
            </a:r>
            <a:r>
              <a:rPr dirty="0" spc="-10"/>
              <a:t>SUMMARY</a:t>
            </a:r>
          </a:p>
          <a:p>
            <a:pPr marL="12700" marR="87630">
              <a:lnSpc>
                <a:spcPct val="125000"/>
              </a:lnSpc>
              <a:spcBef>
                <a:spcPts val="1335"/>
              </a:spcBef>
            </a:pP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modern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drowning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dashboards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show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 i="1">
                <a:solidFill>
                  <a:srgbClr val="334154"/>
                </a:solidFill>
                <a:latin typeface="Arial"/>
                <a:cs typeface="Arial"/>
              </a:rPr>
              <a:t>what</a:t>
            </a:r>
            <a:r>
              <a:rPr dirty="0" sz="1050" spc="-35" b="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happened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but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fail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explain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 i="1">
                <a:solidFill>
                  <a:srgbClr val="334154"/>
                </a:solidFill>
                <a:latin typeface="Arial"/>
                <a:cs typeface="Arial"/>
              </a:rPr>
              <a:t>why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.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When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 b="0">
                <a:solidFill>
                  <a:srgbClr val="334154"/>
                </a:solidFill>
                <a:latin typeface="Microsoft Sans Serif"/>
                <a:cs typeface="Microsoft Sans Serif"/>
              </a:rPr>
              <a:t>a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critical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metric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moves,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does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not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need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another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chart;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needs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comprehensive, evidence-backed investigation.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Currently,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process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relies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manual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interpretation,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requiring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analysts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pull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across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siloed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systems,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reconcile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conflicting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definitions,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hunt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anecdotal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evidence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before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formulating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 b="0">
                <a:solidFill>
                  <a:srgbClr val="334154"/>
                </a:solidFill>
                <a:latin typeface="Microsoft Sans Serif"/>
                <a:cs typeface="Microsoft Sans Serif"/>
              </a:rPr>
              <a:t>a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recommended</a:t>
            </a:r>
            <a:r>
              <a:rPr dirty="0" sz="1050" spc="-6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action.</a:t>
            </a:r>
            <a:endParaRPr sz="1050">
              <a:latin typeface="Microsoft Sans Serif"/>
              <a:cs typeface="Microsoft Sans Serif"/>
            </a:endParaRPr>
          </a:p>
          <a:p>
            <a:pPr algn="just" marL="12700" marR="158115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0F162A"/>
                </a:solidFill>
              </a:rPr>
              <a:t>BID</a:t>
            </a:r>
            <a:r>
              <a:rPr dirty="0" sz="1050" spc="-15">
                <a:solidFill>
                  <a:srgbClr val="0F162A"/>
                </a:solidFill>
              </a:rPr>
              <a:t> </a:t>
            </a:r>
            <a:r>
              <a:rPr dirty="0" sz="1050">
                <a:solidFill>
                  <a:srgbClr val="0F162A"/>
                </a:solidFill>
              </a:rPr>
              <a:t>(Business</a:t>
            </a:r>
            <a:r>
              <a:rPr dirty="0" sz="1050" spc="-15">
                <a:solidFill>
                  <a:srgbClr val="0F162A"/>
                </a:solidFill>
              </a:rPr>
              <a:t> </a:t>
            </a:r>
            <a:r>
              <a:rPr dirty="0" sz="1050" spc="-10">
                <a:solidFill>
                  <a:srgbClr val="0F162A"/>
                </a:solidFill>
              </a:rPr>
              <a:t>Investigation</a:t>
            </a:r>
            <a:r>
              <a:rPr dirty="0" sz="1050" spc="-15">
                <a:solidFill>
                  <a:srgbClr val="0F162A"/>
                </a:solidFill>
              </a:rPr>
              <a:t> </a:t>
            </a:r>
            <a:r>
              <a:rPr dirty="0" sz="1050">
                <a:solidFill>
                  <a:srgbClr val="0F162A"/>
                </a:solidFill>
              </a:rPr>
              <a:t>Department)</a:t>
            </a:r>
            <a:r>
              <a:rPr dirty="0" sz="1050" spc="-15">
                <a:solidFill>
                  <a:srgbClr val="0F162A"/>
                </a:solidFill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intelligence-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to-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action engine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automate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this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investigation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layer.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transforms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fragmented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into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persona-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specific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explanations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ranked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actions.</a:t>
            </a:r>
            <a:endParaRPr sz="1050">
              <a:latin typeface="Microsoft Sans Serif"/>
              <a:cs typeface="Microsoft Sans Serif"/>
            </a:endParaRPr>
          </a:p>
          <a:p>
            <a:pPr marL="12700" marR="16510">
              <a:lnSpc>
                <a:spcPct val="125000"/>
              </a:lnSpc>
              <a:spcBef>
                <a:spcPts val="750"/>
              </a:spcBef>
            </a:pP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What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sets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apart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its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0F162A"/>
                </a:solidFill>
              </a:rPr>
              <a:t>hybrid</a:t>
            </a:r>
            <a:r>
              <a:rPr dirty="0" sz="1050" spc="-20">
                <a:solidFill>
                  <a:srgbClr val="0F162A"/>
                </a:solidFill>
              </a:rPr>
              <a:t> </a:t>
            </a:r>
            <a:r>
              <a:rPr dirty="0" sz="1050">
                <a:solidFill>
                  <a:srgbClr val="0F162A"/>
                </a:solidFill>
              </a:rPr>
              <a:t>decision-intelligence</a:t>
            </a:r>
            <a:r>
              <a:rPr dirty="0" sz="1050" spc="-25">
                <a:solidFill>
                  <a:srgbClr val="0F162A"/>
                </a:solidFill>
              </a:rPr>
              <a:t> </a:t>
            </a:r>
            <a:r>
              <a:rPr dirty="0" sz="1050">
                <a:solidFill>
                  <a:srgbClr val="0F162A"/>
                </a:solidFill>
              </a:rPr>
              <a:t>architecture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.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We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do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not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treat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generative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AI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an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oversized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calculator.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 BID relies entirely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0F162A"/>
                </a:solidFill>
              </a:rPr>
              <a:t>deterministic</a:t>
            </a:r>
            <a:r>
              <a:rPr dirty="0" sz="1050" spc="-10">
                <a:solidFill>
                  <a:srgbClr val="0F162A"/>
                </a:solidFill>
              </a:rPr>
              <a:t> </a:t>
            </a:r>
            <a:r>
              <a:rPr dirty="0" sz="1050">
                <a:solidFill>
                  <a:srgbClr val="0F162A"/>
                </a:solidFill>
              </a:rPr>
              <a:t>analytics</a:t>
            </a:r>
            <a:r>
              <a:rPr dirty="0" sz="1050" spc="-15">
                <a:solidFill>
                  <a:srgbClr val="0F162A"/>
                </a:solidFill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to establish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quantitative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 truth—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detecting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anomalies,</a:t>
            </a:r>
            <a:r>
              <a:rPr dirty="0" sz="1050" spc="-4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reconciling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data,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4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calculating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driver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contributions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using</a:t>
            </a:r>
            <a:r>
              <a:rPr dirty="0" sz="1050" spc="-4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robust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methods.</a:t>
            </a:r>
            <a:r>
              <a:rPr dirty="0" sz="1050" spc="-4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LLM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is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strictly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positioned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contextual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engine: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interpreting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numerical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truth,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grounding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 retrieved qualitative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evidence,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adapting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narrative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specific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personas,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phrasing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actionable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recommendations.</a:t>
            </a:r>
            <a:endParaRPr sz="1050">
              <a:latin typeface="Microsoft Sans Serif"/>
              <a:cs typeface="Microsoft Sans Serif"/>
            </a:endParaRPr>
          </a:p>
          <a:p>
            <a:pPr marL="12700" marR="5080">
              <a:lnSpc>
                <a:spcPct val="125000"/>
              </a:lnSpc>
              <a:spcBef>
                <a:spcPts val="750"/>
              </a:spcBef>
            </a:pP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current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demonstrates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end-to-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end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operational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pipeline,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complete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with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React-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based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decision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workspace,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RAG-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driven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evidence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retrieval,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persona-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aware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entitlement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controls.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removing</a:t>
            </a:r>
            <a:r>
              <a:rPr dirty="0" sz="1050" spc="-3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manual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friction from data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interpretation,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 BID transitions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organisations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 from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descriptive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 Business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 to 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true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Decision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Intelligence,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creating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scalable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blueprint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deployment.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210185" indent="-197485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2"/>
              <a:tabLst>
                <a:tab pos="210185" algn="l"/>
              </a:tabLst>
            </a:pPr>
            <a:r>
              <a:rPr dirty="0"/>
              <a:t>BUSINESS</a:t>
            </a:r>
            <a:r>
              <a:rPr dirty="0" spc="-85"/>
              <a:t> </a:t>
            </a:r>
            <a:r>
              <a:rPr dirty="0" spc="-10"/>
              <a:t>PROBLEM</a:t>
            </a:r>
          </a:p>
          <a:p>
            <a:pPr marL="12700" marR="311785">
              <a:lnSpc>
                <a:spcPct val="125000"/>
              </a:lnSpc>
              <a:spcBef>
                <a:spcPts val="1240"/>
              </a:spcBef>
            </a:pP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Traditional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tells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you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metric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moved.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does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not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solve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operational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crisis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that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follows.</a:t>
            </a:r>
            <a:endParaRPr sz="1050">
              <a:latin typeface="Microsoft Sans Serif"/>
              <a:cs typeface="Microsoft Sans Serif"/>
            </a:endParaRPr>
          </a:p>
          <a:p>
            <a:pPr marL="12700" marR="245745">
              <a:lnSpc>
                <a:spcPct val="125000"/>
              </a:lnSpc>
              <a:spcBef>
                <a:spcPts val="750"/>
              </a:spcBef>
            </a:pP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When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critical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event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occurs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(e.g.,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"Revenue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falls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12%"),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triggers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manual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highly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inefficient</a:t>
            </a:r>
            <a:r>
              <a:rPr dirty="0" sz="1050" spc="-20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0">
                <a:solidFill>
                  <a:srgbClr val="334154"/>
                </a:solidFill>
                <a:latin typeface="Microsoft Sans Serif"/>
                <a:cs typeface="Microsoft Sans Serif"/>
              </a:rPr>
              <a:t>chain</a:t>
            </a:r>
            <a:r>
              <a:rPr dirty="0" sz="1050" spc="-15" b="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 b="0">
                <a:solidFill>
                  <a:srgbClr val="334154"/>
                </a:solidFill>
                <a:latin typeface="Microsoft Sans Serif"/>
                <a:cs typeface="Microsoft Sans Serif"/>
              </a:rPr>
              <a:t>of </a:t>
            </a:r>
            <a:r>
              <a:rPr dirty="0" sz="1050" spc="-10" b="0">
                <a:solidFill>
                  <a:srgbClr val="334154"/>
                </a:solidFill>
                <a:latin typeface="Microsoft Sans Serif"/>
                <a:cs typeface="Microsoft Sans Serif"/>
              </a:rPr>
              <a:t>events: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999" y="720000"/>
            <a:ext cx="6480175" cy="800100"/>
            <a:chOff x="539999" y="720000"/>
            <a:chExt cx="6480175" cy="800100"/>
          </a:xfrm>
        </p:grpSpPr>
        <p:sp>
          <p:nvSpPr>
            <p:cNvPr id="3" name="object 3"/>
            <p:cNvSpPr/>
            <p:nvPr/>
          </p:nvSpPr>
          <p:spPr>
            <a:xfrm>
              <a:off x="539999" y="720000"/>
              <a:ext cx="6480175" cy="800100"/>
            </a:xfrm>
            <a:custGeom>
              <a:avLst/>
              <a:gdLst/>
              <a:ahLst/>
              <a:cxnLst/>
              <a:rect l="l" t="t" r="r" b="b"/>
              <a:pathLst>
                <a:path w="6480175" h="800100">
                  <a:moveTo>
                    <a:pt x="6480000" y="800100"/>
                  </a:moveTo>
                  <a:lnTo>
                    <a:pt x="0" y="800100"/>
                  </a:lnTo>
                  <a:lnTo>
                    <a:pt x="0" y="0"/>
                  </a:lnTo>
                  <a:lnTo>
                    <a:pt x="6480000" y="0"/>
                  </a:lnTo>
                  <a:lnTo>
                    <a:pt x="6480000" y="800100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40000" y="720000"/>
              <a:ext cx="38100" cy="800100"/>
            </a:xfrm>
            <a:custGeom>
              <a:avLst/>
              <a:gdLst/>
              <a:ahLst/>
              <a:cxnLst/>
              <a:rect l="l" t="t" r="r" b="b"/>
              <a:pathLst>
                <a:path w="38100" h="800100">
                  <a:moveTo>
                    <a:pt x="38100" y="800100"/>
                  </a:moveTo>
                  <a:lnTo>
                    <a:pt x="0" y="800100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800100"/>
                  </a:lnTo>
                  <a:close/>
                </a:path>
              </a:pathLst>
            </a:custGeom>
            <a:solidFill>
              <a:srgbClr val="0EA5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540000" y="5387548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0000" y="8521272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27299" y="780832"/>
            <a:ext cx="6492875" cy="8215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3675" marR="151130">
              <a:lnSpc>
                <a:spcPct val="125000"/>
              </a:lnSpc>
              <a:spcBef>
                <a:spcPts val="100"/>
              </a:spcBef>
            </a:pP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Metric</a:t>
            </a:r>
            <a:r>
              <a:rPr dirty="0" sz="100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moves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Analyst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manually</a:t>
            </a:r>
            <a:r>
              <a:rPr dirty="0" sz="100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investigates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Multiple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systems</a:t>
            </a:r>
            <a:r>
              <a:rPr dirty="0" sz="100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queried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Inconsistent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definitions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debated</a:t>
            </a:r>
            <a:r>
              <a:rPr dirty="0" sz="1000" spc="-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Possible</a:t>
            </a:r>
            <a:r>
              <a:rPr dirty="0" sz="1000" spc="-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causes</a:t>
            </a:r>
            <a:r>
              <a:rPr dirty="0" sz="1000" spc="-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compared</a:t>
            </a:r>
            <a:r>
              <a:rPr dirty="0" sz="1000" spc="-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Customer</a:t>
            </a:r>
            <a:r>
              <a:rPr dirty="0" sz="1000" spc="-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evidence</a:t>
            </a:r>
            <a:r>
              <a:rPr dirty="0" sz="1000" spc="-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checked</a:t>
            </a:r>
            <a:r>
              <a:rPr dirty="0" sz="1000" spc="-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 Business</a:t>
            </a:r>
            <a:r>
              <a:rPr dirty="0" sz="1000" spc="-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context</a:t>
            </a:r>
            <a:endParaRPr sz="1000">
              <a:latin typeface="Arial"/>
              <a:cs typeface="Arial"/>
            </a:endParaRPr>
          </a:p>
          <a:p>
            <a:pPr marL="193675">
              <a:lnSpc>
                <a:spcPct val="100000"/>
              </a:lnSpc>
              <a:spcBef>
                <a:spcPts val="300"/>
              </a:spcBef>
            </a:pP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interpreted</a:t>
            </a:r>
            <a:r>
              <a:rPr dirty="0" sz="100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Action</a:t>
            </a:r>
            <a:r>
              <a:rPr dirty="0" sz="100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selected.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manual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investigation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loop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slow,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error-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prone,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suffers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several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systemic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failures:</a:t>
            </a:r>
            <a:endParaRPr sz="1050">
              <a:latin typeface="Microsoft Sans Serif"/>
              <a:cs typeface="Microsoft Sans Serif"/>
            </a:endParaRPr>
          </a:p>
          <a:p>
            <a:pPr marL="201930" marR="41910" indent="-82550">
              <a:lnSpc>
                <a:spcPct val="125000"/>
              </a:lnSpc>
              <a:spcBef>
                <a:spcPts val="75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Fragmented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Data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Grains: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Analysts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must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reconcile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daily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spend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order-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grain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transactional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unstructured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customer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feedback.</a:t>
            </a:r>
            <a:endParaRPr sz="1050">
              <a:latin typeface="Microsoft Sans Serif"/>
              <a:cs typeface="Microsoft Sans Serif"/>
            </a:endParaRPr>
          </a:p>
          <a:p>
            <a:pPr marL="201930" marR="15875" indent="-8255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Disconnected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Dashboards: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Users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stare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independent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charts,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struggling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correlate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movements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across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tools.</a:t>
            </a:r>
            <a:endParaRPr sz="1050">
              <a:latin typeface="Microsoft Sans Serif"/>
              <a:cs typeface="Microsoft Sans Serif"/>
            </a:endParaRPr>
          </a:p>
          <a:p>
            <a:pPr marL="201930" marR="414655" indent="-8255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Lack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of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Evidence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Confidence: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Dashboards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provide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numbers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without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qualitative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context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(like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customer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support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tickets)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necessary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validate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root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cause.</a:t>
            </a:r>
            <a:endParaRPr sz="1050">
              <a:latin typeface="Microsoft Sans Serif"/>
              <a:cs typeface="Microsoft Sans Serif"/>
            </a:endParaRPr>
          </a:p>
          <a:p>
            <a:pPr marL="201930" marR="119380" indent="-8255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Role-Dependent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Interpretation:</a:t>
            </a:r>
            <a:r>
              <a:rPr dirty="0" sz="105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drop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conversion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means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something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entirely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Marketing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Manager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does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Operations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Manager,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yet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both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receive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exact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same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static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report.</a:t>
            </a:r>
            <a:endParaRPr sz="1050">
              <a:latin typeface="Microsoft Sans Serif"/>
              <a:cs typeface="Microsoft Sans Serif"/>
            </a:endParaRPr>
          </a:p>
          <a:p>
            <a:pPr marL="201930" marR="468630" indent="-8255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Poor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Feedback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Loops: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When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taken,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outcome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rarely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back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to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improve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future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recommendations.</a:t>
            </a:r>
            <a:endParaRPr sz="1050">
              <a:latin typeface="Microsoft Sans Serif"/>
              <a:cs typeface="Microsoft Sans Serif"/>
            </a:endParaRPr>
          </a:p>
          <a:p>
            <a:pPr marL="12700" marR="156210">
              <a:lnSpc>
                <a:spcPct val="133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conventional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dashboard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stops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anomaly.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answer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questions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follow: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WHAT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changed?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WHY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did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it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change?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WHICH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driver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contributed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most?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HOW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confident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are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we?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WHAT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evidence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supports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that?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WHO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needs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to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act?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WHAT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should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they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do?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HOW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should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success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be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monitored?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050">
              <a:latin typeface="Arial"/>
              <a:cs typeface="Arial"/>
            </a:endParaRPr>
          </a:p>
          <a:p>
            <a:pPr marL="210185" indent="-197485">
              <a:lnSpc>
                <a:spcPct val="100000"/>
              </a:lnSpc>
              <a:spcBef>
                <a:spcPts val="5"/>
              </a:spcBef>
              <a:buClr>
                <a:srgbClr val="0369A1"/>
              </a:buClr>
              <a:buFont typeface="Arial"/>
              <a:buAutoNum type="arabicPeriod" startAt="3"/>
              <a:tabLst>
                <a:tab pos="210185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BID</a:t>
            </a:r>
            <a:r>
              <a:rPr dirty="0" sz="1400" spc="-4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0369A1"/>
                </a:solidFill>
                <a:latin typeface="Arial"/>
                <a:cs typeface="Arial"/>
              </a:rPr>
              <a:t>VALUE</a:t>
            </a:r>
            <a:r>
              <a:rPr dirty="0" sz="1400" spc="-4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PROPOSITION</a:t>
            </a:r>
            <a:endParaRPr sz="1400">
              <a:latin typeface="Arial"/>
              <a:cs typeface="Arial"/>
            </a:endParaRPr>
          </a:p>
          <a:p>
            <a:pPr marL="12700" marR="323850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fundamentally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changes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return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investment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automating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cognitive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leap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between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noticing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problem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taking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action.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Traditional</a:t>
            </a:r>
            <a:r>
              <a:rPr dirty="0" sz="1050" spc="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BI</a:t>
            </a:r>
            <a:r>
              <a:rPr dirty="0" sz="1050" spc="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Pipeline: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Dashboard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Metric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Movement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Manual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Investigation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Manual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Decision.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BID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Decision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Intelligence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Pipeline:</a:t>
            </a:r>
            <a:endParaRPr sz="1050">
              <a:latin typeface="Arial"/>
              <a:cs typeface="Arial"/>
            </a:endParaRPr>
          </a:p>
          <a:p>
            <a:pPr marL="12700" marR="52705">
              <a:lnSpc>
                <a:spcPct val="125000"/>
              </a:lnSpc>
            </a:pP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Fragmented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Sources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Reconciliation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Intelligence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Root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Cause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Evidence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Persona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Context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334154"/>
                </a:solidFill>
                <a:latin typeface="Microsoft Sans Serif"/>
                <a:cs typeface="Microsoft Sans Serif"/>
              </a:rPr>
              <a:t>→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Feedback.</a:t>
            </a:r>
            <a:endParaRPr sz="1050">
              <a:latin typeface="Microsoft Sans Serif"/>
              <a:cs typeface="Microsoft Sans Serif"/>
            </a:endParaRPr>
          </a:p>
          <a:p>
            <a:pPr marL="12700" marR="231140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automating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investigative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heavy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lifting,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drastically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reduces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time-to-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insight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analytical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toil.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It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guarantees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consistency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how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metrics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interpreted,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ensures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recommendations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grounded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in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reality,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provides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targeted,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role-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aware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empowers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leaders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pull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the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right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levers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immediately.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210185" indent="-197485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4"/>
              <a:tabLst>
                <a:tab pos="210185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SOLUTION</a:t>
            </a:r>
            <a:r>
              <a:rPr dirty="0" sz="1400" spc="-6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OVERVIEW</a:t>
            </a:r>
            <a:endParaRPr sz="1400">
              <a:latin typeface="Arial"/>
              <a:cs typeface="Arial"/>
            </a:endParaRPr>
          </a:p>
          <a:p>
            <a:pPr marL="12700" marR="234315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operates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tightly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governed,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multi-layered architecture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where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quantitative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language generation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are strictly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separated.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89375" y="720000"/>
            <a:ext cx="2381250" cy="314325"/>
            <a:chOff x="2589375" y="720000"/>
            <a:chExt cx="2381250" cy="314325"/>
          </a:xfrm>
        </p:grpSpPr>
        <p:sp>
          <p:nvSpPr>
            <p:cNvPr id="3" name="object 3"/>
            <p:cNvSpPr/>
            <p:nvPr/>
          </p:nvSpPr>
          <p:spPr>
            <a:xfrm>
              <a:off x="2589375" y="72000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589375" y="72000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67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276225"/>
                  </a:lnTo>
                  <a:lnTo>
                    <a:pt x="11779" y="287320"/>
                  </a:lnTo>
                  <a:lnTo>
                    <a:pt x="17918" y="296406"/>
                  </a:lnTo>
                  <a:lnTo>
                    <a:pt x="27004" y="302545"/>
                  </a:lnTo>
                  <a:lnTo>
                    <a:pt x="38100" y="304800"/>
                  </a:lnTo>
                  <a:lnTo>
                    <a:pt x="2367591" y="304800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  <a:path w="2381250" h="314325">
                  <a:moveTo>
                    <a:pt x="2367591" y="304800"/>
                  </a:moveTo>
                  <a:lnTo>
                    <a:pt x="2343150" y="304800"/>
                  </a:lnTo>
                  <a:lnTo>
                    <a:pt x="2354245" y="302545"/>
                  </a:lnTo>
                  <a:lnTo>
                    <a:pt x="2363331" y="296406"/>
                  </a:lnTo>
                  <a:lnTo>
                    <a:pt x="2369470" y="287320"/>
                  </a:lnTo>
                  <a:lnTo>
                    <a:pt x="2371725" y="276225"/>
                  </a:lnTo>
                  <a:lnTo>
                    <a:pt x="2371725" y="38100"/>
                  </a:lnTo>
                  <a:lnTo>
                    <a:pt x="2369470" y="27004"/>
                  </a:lnTo>
                  <a:lnTo>
                    <a:pt x="2363331" y="17918"/>
                  </a:lnTo>
                  <a:lnTo>
                    <a:pt x="2354245" y="11779"/>
                  </a:lnTo>
                  <a:lnTo>
                    <a:pt x="2343150" y="9525"/>
                  </a:lnTo>
                  <a:lnTo>
                    <a:pt x="2367591" y="9525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67591" y="30480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2589375" y="1339125"/>
            <a:ext cx="2381250" cy="314325"/>
            <a:chOff x="2589375" y="1339125"/>
            <a:chExt cx="2381250" cy="314325"/>
          </a:xfrm>
        </p:grpSpPr>
        <p:sp>
          <p:nvSpPr>
            <p:cNvPr id="6" name="object 6"/>
            <p:cNvSpPr/>
            <p:nvPr/>
          </p:nvSpPr>
          <p:spPr>
            <a:xfrm>
              <a:off x="2589375" y="1339125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589375" y="1339125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67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276225"/>
                  </a:lnTo>
                  <a:lnTo>
                    <a:pt x="11779" y="287320"/>
                  </a:lnTo>
                  <a:lnTo>
                    <a:pt x="17918" y="296406"/>
                  </a:lnTo>
                  <a:lnTo>
                    <a:pt x="27004" y="302545"/>
                  </a:lnTo>
                  <a:lnTo>
                    <a:pt x="38100" y="304800"/>
                  </a:lnTo>
                  <a:lnTo>
                    <a:pt x="2367591" y="304800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  <a:path w="2381250" h="314325">
                  <a:moveTo>
                    <a:pt x="2367591" y="304800"/>
                  </a:moveTo>
                  <a:lnTo>
                    <a:pt x="2343150" y="304800"/>
                  </a:lnTo>
                  <a:lnTo>
                    <a:pt x="2354245" y="302545"/>
                  </a:lnTo>
                  <a:lnTo>
                    <a:pt x="2363331" y="296406"/>
                  </a:lnTo>
                  <a:lnTo>
                    <a:pt x="2369470" y="287320"/>
                  </a:lnTo>
                  <a:lnTo>
                    <a:pt x="2371725" y="276225"/>
                  </a:lnTo>
                  <a:lnTo>
                    <a:pt x="2371725" y="38100"/>
                  </a:lnTo>
                  <a:lnTo>
                    <a:pt x="2369470" y="27004"/>
                  </a:lnTo>
                  <a:lnTo>
                    <a:pt x="2363331" y="17918"/>
                  </a:lnTo>
                  <a:lnTo>
                    <a:pt x="2354245" y="11779"/>
                  </a:lnTo>
                  <a:lnTo>
                    <a:pt x="2343150" y="9525"/>
                  </a:lnTo>
                  <a:lnTo>
                    <a:pt x="2367591" y="9525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67591" y="30480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2589375" y="1958250"/>
            <a:ext cx="2381250" cy="314325"/>
            <a:chOff x="2589375" y="1958250"/>
            <a:chExt cx="2381250" cy="314325"/>
          </a:xfrm>
        </p:grpSpPr>
        <p:sp>
          <p:nvSpPr>
            <p:cNvPr id="9" name="object 9"/>
            <p:cNvSpPr/>
            <p:nvPr/>
          </p:nvSpPr>
          <p:spPr>
            <a:xfrm>
              <a:off x="2589375" y="195825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589375" y="195825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67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276225"/>
                  </a:lnTo>
                  <a:lnTo>
                    <a:pt x="11779" y="287320"/>
                  </a:lnTo>
                  <a:lnTo>
                    <a:pt x="17918" y="296406"/>
                  </a:lnTo>
                  <a:lnTo>
                    <a:pt x="27004" y="302545"/>
                  </a:lnTo>
                  <a:lnTo>
                    <a:pt x="38100" y="304800"/>
                  </a:lnTo>
                  <a:lnTo>
                    <a:pt x="2367591" y="304800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  <a:path w="2381250" h="314325">
                  <a:moveTo>
                    <a:pt x="2367591" y="304800"/>
                  </a:moveTo>
                  <a:lnTo>
                    <a:pt x="2343150" y="304800"/>
                  </a:lnTo>
                  <a:lnTo>
                    <a:pt x="2354245" y="302545"/>
                  </a:lnTo>
                  <a:lnTo>
                    <a:pt x="2363331" y="296406"/>
                  </a:lnTo>
                  <a:lnTo>
                    <a:pt x="2369470" y="287320"/>
                  </a:lnTo>
                  <a:lnTo>
                    <a:pt x="2371725" y="276225"/>
                  </a:lnTo>
                  <a:lnTo>
                    <a:pt x="2371725" y="38100"/>
                  </a:lnTo>
                  <a:lnTo>
                    <a:pt x="2369470" y="27004"/>
                  </a:lnTo>
                  <a:lnTo>
                    <a:pt x="2363331" y="17918"/>
                  </a:lnTo>
                  <a:lnTo>
                    <a:pt x="2354245" y="11779"/>
                  </a:lnTo>
                  <a:lnTo>
                    <a:pt x="2343150" y="9525"/>
                  </a:lnTo>
                  <a:lnTo>
                    <a:pt x="2367591" y="9525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67591" y="30480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2589375" y="2577375"/>
            <a:ext cx="2381250" cy="314325"/>
            <a:chOff x="2589375" y="2577375"/>
            <a:chExt cx="2381250" cy="314325"/>
          </a:xfrm>
        </p:grpSpPr>
        <p:sp>
          <p:nvSpPr>
            <p:cNvPr id="12" name="object 12"/>
            <p:cNvSpPr/>
            <p:nvPr/>
          </p:nvSpPr>
          <p:spPr>
            <a:xfrm>
              <a:off x="2589375" y="2577375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589375" y="2577375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67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276225"/>
                  </a:lnTo>
                  <a:lnTo>
                    <a:pt x="11779" y="287320"/>
                  </a:lnTo>
                  <a:lnTo>
                    <a:pt x="17918" y="296406"/>
                  </a:lnTo>
                  <a:lnTo>
                    <a:pt x="27004" y="302545"/>
                  </a:lnTo>
                  <a:lnTo>
                    <a:pt x="38100" y="304800"/>
                  </a:lnTo>
                  <a:lnTo>
                    <a:pt x="2367591" y="304800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  <a:path w="2381250" h="314325">
                  <a:moveTo>
                    <a:pt x="2367591" y="304800"/>
                  </a:moveTo>
                  <a:lnTo>
                    <a:pt x="2343150" y="304800"/>
                  </a:lnTo>
                  <a:lnTo>
                    <a:pt x="2354245" y="302545"/>
                  </a:lnTo>
                  <a:lnTo>
                    <a:pt x="2363331" y="296406"/>
                  </a:lnTo>
                  <a:lnTo>
                    <a:pt x="2369470" y="287320"/>
                  </a:lnTo>
                  <a:lnTo>
                    <a:pt x="2371725" y="276225"/>
                  </a:lnTo>
                  <a:lnTo>
                    <a:pt x="2371725" y="38100"/>
                  </a:lnTo>
                  <a:lnTo>
                    <a:pt x="2369470" y="27004"/>
                  </a:lnTo>
                  <a:lnTo>
                    <a:pt x="2363331" y="17918"/>
                  </a:lnTo>
                  <a:lnTo>
                    <a:pt x="2354245" y="11779"/>
                  </a:lnTo>
                  <a:lnTo>
                    <a:pt x="2343150" y="9525"/>
                  </a:lnTo>
                  <a:lnTo>
                    <a:pt x="2367591" y="9525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67591" y="30480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2589375" y="3196500"/>
            <a:ext cx="2381250" cy="314325"/>
            <a:chOff x="2589375" y="3196500"/>
            <a:chExt cx="2381250" cy="314325"/>
          </a:xfrm>
        </p:grpSpPr>
        <p:sp>
          <p:nvSpPr>
            <p:cNvPr id="15" name="object 15"/>
            <p:cNvSpPr/>
            <p:nvPr/>
          </p:nvSpPr>
          <p:spPr>
            <a:xfrm>
              <a:off x="2589375" y="319650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89375" y="319650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67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276225"/>
                  </a:lnTo>
                  <a:lnTo>
                    <a:pt x="11779" y="287320"/>
                  </a:lnTo>
                  <a:lnTo>
                    <a:pt x="17918" y="296406"/>
                  </a:lnTo>
                  <a:lnTo>
                    <a:pt x="27004" y="302545"/>
                  </a:lnTo>
                  <a:lnTo>
                    <a:pt x="38100" y="304800"/>
                  </a:lnTo>
                  <a:lnTo>
                    <a:pt x="2367591" y="304800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  <a:path w="2381250" h="314325">
                  <a:moveTo>
                    <a:pt x="2367591" y="304800"/>
                  </a:moveTo>
                  <a:lnTo>
                    <a:pt x="2343150" y="304800"/>
                  </a:lnTo>
                  <a:lnTo>
                    <a:pt x="2354245" y="302545"/>
                  </a:lnTo>
                  <a:lnTo>
                    <a:pt x="2363331" y="296406"/>
                  </a:lnTo>
                  <a:lnTo>
                    <a:pt x="2369470" y="287320"/>
                  </a:lnTo>
                  <a:lnTo>
                    <a:pt x="2371725" y="276225"/>
                  </a:lnTo>
                  <a:lnTo>
                    <a:pt x="2371725" y="38100"/>
                  </a:lnTo>
                  <a:lnTo>
                    <a:pt x="2369470" y="27004"/>
                  </a:lnTo>
                  <a:lnTo>
                    <a:pt x="2363331" y="17918"/>
                  </a:lnTo>
                  <a:lnTo>
                    <a:pt x="2354245" y="11779"/>
                  </a:lnTo>
                  <a:lnTo>
                    <a:pt x="2343150" y="9525"/>
                  </a:lnTo>
                  <a:lnTo>
                    <a:pt x="2367591" y="9525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67591" y="30480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2589375" y="3815625"/>
            <a:ext cx="2381250" cy="314325"/>
            <a:chOff x="2589375" y="3815625"/>
            <a:chExt cx="2381250" cy="314325"/>
          </a:xfrm>
        </p:grpSpPr>
        <p:sp>
          <p:nvSpPr>
            <p:cNvPr id="18" name="object 18"/>
            <p:cNvSpPr/>
            <p:nvPr/>
          </p:nvSpPr>
          <p:spPr>
            <a:xfrm>
              <a:off x="2589375" y="3815625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589375" y="3815625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67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276225"/>
                  </a:lnTo>
                  <a:lnTo>
                    <a:pt x="11779" y="287320"/>
                  </a:lnTo>
                  <a:lnTo>
                    <a:pt x="17918" y="296406"/>
                  </a:lnTo>
                  <a:lnTo>
                    <a:pt x="27004" y="302545"/>
                  </a:lnTo>
                  <a:lnTo>
                    <a:pt x="38100" y="304800"/>
                  </a:lnTo>
                  <a:lnTo>
                    <a:pt x="2367591" y="304800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  <a:path w="2381250" h="314325">
                  <a:moveTo>
                    <a:pt x="2367591" y="304800"/>
                  </a:moveTo>
                  <a:lnTo>
                    <a:pt x="2343150" y="304800"/>
                  </a:lnTo>
                  <a:lnTo>
                    <a:pt x="2354245" y="302545"/>
                  </a:lnTo>
                  <a:lnTo>
                    <a:pt x="2363331" y="296406"/>
                  </a:lnTo>
                  <a:lnTo>
                    <a:pt x="2369470" y="287320"/>
                  </a:lnTo>
                  <a:lnTo>
                    <a:pt x="2371725" y="276225"/>
                  </a:lnTo>
                  <a:lnTo>
                    <a:pt x="2371725" y="38100"/>
                  </a:lnTo>
                  <a:lnTo>
                    <a:pt x="2369470" y="27004"/>
                  </a:lnTo>
                  <a:lnTo>
                    <a:pt x="2363331" y="17918"/>
                  </a:lnTo>
                  <a:lnTo>
                    <a:pt x="2354245" y="11779"/>
                  </a:lnTo>
                  <a:lnTo>
                    <a:pt x="2343150" y="9525"/>
                  </a:lnTo>
                  <a:lnTo>
                    <a:pt x="2367591" y="9525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67591" y="30480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2589375" y="4434750"/>
            <a:ext cx="2381250" cy="314325"/>
            <a:chOff x="2589375" y="4434750"/>
            <a:chExt cx="2381250" cy="314325"/>
          </a:xfrm>
        </p:grpSpPr>
        <p:sp>
          <p:nvSpPr>
            <p:cNvPr id="21" name="object 21"/>
            <p:cNvSpPr/>
            <p:nvPr/>
          </p:nvSpPr>
          <p:spPr>
            <a:xfrm>
              <a:off x="2589375" y="443475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589375" y="443475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67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276225"/>
                  </a:lnTo>
                  <a:lnTo>
                    <a:pt x="11779" y="287320"/>
                  </a:lnTo>
                  <a:lnTo>
                    <a:pt x="17918" y="296406"/>
                  </a:lnTo>
                  <a:lnTo>
                    <a:pt x="27004" y="302545"/>
                  </a:lnTo>
                  <a:lnTo>
                    <a:pt x="38100" y="304800"/>
                  </a:lnTo>
                  <a:lnTo>
                    <a:pt x="2367591" y="304800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  <a:path w="2381250" h="314325">
                  <a:moveTo>
                    <a:pt x="2367591" y="304800"/>
                  </a:moveTo>
                  <a:lnTo>
                    <a:pt x="2343150" y="304800"/>
                  </a:lnTo>
                  <a:lnTo>
                    <a:pt x="2354245" y="302545"/>
                  </a:lnTo>
                  <a:lnTo>
                    <a:pt x="2363331" y="296406"/>
                  </a:lnTo>
                  <a:lnTo>
                    <a:pt x="2369470" y="287320"/>
                  </a:lnTo>
                  <a:lnTo>
                    <a:pt x="2371725" y="276225"/>
                  </a:lnTo>
                  <a:lnTo>
                    <a:pt x="2371725" y="38100"/>
                  </a:lnTo>
                  <a:lnTo>
                    <a:pt x="2369470" y="27004"/>
                  </a:lnTo>
                  <a:lnTo>
                    <a:pt x="2363331" y="17918"/>
                  </a:lnTo>
                  <a:lnTo>
                    <a:pt x="2354245" y="11779"/>
                  </a:lnTo>
                  <a:lnTo>
                    <a:pt x="2343150" y="9525"/>
                  </a:lnTo>
                  <a:lnTo>
                    <a:pt x="2367591" y="9525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67591" y="30480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2589375" y="5053875"/>
            <a:ext cx="2381250" cy="314325"/>
            <a:chOff x="2589375" y="5053875"/>
            <a:chExt cx="2381250" cy="314325"/>
          </a:xfrm>
        </p:grpSpPr>
        <p:sp>
          <p:nvSpPr>
            <p:cNvPr id="24" name="object 24"/>
            <p:cNvSpPr/>
            <p:nvPr/>
          </p:nvSpPr>
          <p:spPr>
            <a:xfrm>
              <a:off x="2589375" y="5053875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589375" y="5053875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67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276225"/>
                  </a:lnTo>
                  <a:lnTo>
                    <a:pt x="11779" y="287320"/>
                  </a:lnTo>
                  <a:lnTo>
                    <a:pt x="17918" y="296406"/>
                  </a:lnTo>
                  <a:lnTo>
                    <a:pt x="27004" y="302545"/>
                  </a:lnTo>
                  <a:lnTo>
                    <a:pt x="38100" y="304800"/>
                  </a:lnTo>
                  <a:lnTo>
                    <a:pt x="2367591" y="304800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  <a:path w="2381250" h="314325">
                  <a:moveTo>
                    <a:pt x="2367591" y="304800"/>
                  </a:moveTo>
                  <a:lnTo>
                    <a:pt x="2343150" y="304800"/>
                  </a:lnTo>
                  <a:lnTo>
                    <a:pt x="2354245" y="302545"/>
                  </a:lnTo>
                  <a:lnTo>
                    <a:pt x="2363331" y="296406"/>
                  </a:lnTo>
                  <a:lnTo>
                    <a:pt x="2369470" y="287320"/>
                  </a:lnTo>
                  <a:lnTo>
                    <a:pt x="2371725" y="276225"/>
                  </a:lnTo>
                  <a:lnTo>
                    <a:pt x="2371725" y="38100"/>
                  </a:lnTo>
                  <a:lnTo>
                    <a:pt x="2369470" y="27004"/>
                  </a:lnTo>
                  <a:lnTo>
                    <a:pt x="2363331" y="17918"/>
                  </a:lnTo>
                  <a:lnTo>
                    <a:pt x="2354245" y="11779"/>
                  </a:lnTo>
                  <a:lnTo>
                    <a:pt x="2343150" y="9525"/>
                  </a:lnTo>
                  <a:lnTo>
                    <a:pt x="2367591" y="9525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67591" y="30480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2589375" y="5673000"/>
            <a:ext cx="2381250" cy="314325"/>
            <a:chOff x="2589375" y="5673000"/>
            <a:chExt cx="2381250" cy="314325"/>
          </a:xfrm>
        </p:grpSpPr>
        <p:sp>
          <p:nvSpPr>
            <p:cNvPr id="27" name="object 27"/>
            <p:cNvSpPr/>
            <p:nvPr/>
          </p:nvSpPr>
          <p:spPr>
            <a:xfrm>
              <a:off x="2589375" y="567300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589375" y="567300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67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276225"/>
                  </a:lnTo>
                  <a:lnTo>
                    <a:pt x="11779" y="287320"/>
                  </a:lnTo>
                  <a:lnTo>
                    <a:pt x="17918" y="296406"/>
                  </a:lnTo>
                  <a:lnTo>
                    <a:pt x="27004" y="302545"/>
                  </a:lnTo>
                  <a:lnTo>
                    <a:pt x="38100" y="304800"/>
                  </a:lnTo>
                  <a:lnTo>
                    <a:pt x="2367591" y="304800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  <a:path w="2381250" h="314325">
                  <a:moveTo>
                    <a:pt x="2367591" y="304800"/>
                  </a:moveTo>
                  <a:lnTo>
                    <a:pt x="2343150" y="304800"/>
                  </a:lnTo>
                  <a:lnTo>
                    <a:pt x="2354245" y="302545"/>
                  </a:lnTo>
                  <a:lnTo>
                    <a:pt x="2363331" y="296406"/>
                  </a:lnTo>
                  <a:lnTo>
                    <a:pt x="2369470" y="287320"/>
                  </a:lnTo>
                  <a:lnTo>
                    <a:pt x="2371725" y="276225"/>
                  </a:lnTo>
                  <a:lnTo>
                    <a:pt x="2371725" y="38100"/>
                  </a:lnTo>
                  <a:lnTo>
                    <a:pt x="2369470" y="27004"/>
                  </a:lnTo>
                  <a:lnTo>
                    <a:pt x="2363331" y="17918"/>
                  </a:lnTo>
                  <a:lnTo>
                    <a:pt x="2354245" y="11779"/>
                  </a:lnTo>
                  <a:lnTo>
                    <a:pt x="2343150" y="9525"/>
                  </a:lnTo>
                  <a:lnTo>
                    <a:pt x="2367591" y="9525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67591" y="30480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2589375" y="6292125"/>
            <a:ext cx="2381250" cy="314325"/>
            <a:chOff x="2589375" y="6292125"/>
            <a:chExt cx="2381250" cy="314325"/>
          </a:xfrm>
        </p:grpSpPr>
        <p:sp>
          <p:nvSpPr>
            <p:cNvPr id="30" name="object 30"/>
            <p:cNvSpPr/>
            <p:nvPr/>
          </p:nvSpPr>
          <p:spPr>
            <a:xfrm>
              <a:off x="2589375" y="6292125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589375" y="6292125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67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276225"/>
                  </a:lnTo>
                  <a:lnTo>
                    <a:pt x="11779" y="287320"/>
                  </a:lnTo>
                  <a:lnTo>
                    <a:pt x="17918" y="296406"/>
                  </a:lnTo>
                  <a:lnTo>
                    <a:pt x="27004" y="302545"/>
                  </a:lnTo>
                  <a:lnTo>
                    <a:pt x="38100" y="304800"/>
                  </a:lnTo>
                  <a:lnTo>
                    <a:pt x="2367591" y="304800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  <a:path w="2381250" h="314325">
                  <a:moveTo>
                    <a:pt x="2367591" y="304800"/>
                  </a:moveTo>
                  <a:lnTo>
                    <a:pt x="2343150" y="304800"/>
                  </a:lnTo>
                  <a:lnTo>
                    <a:pt x="2354245" y="302545"/>
                  </a:lnTo>
                  <a:lnTo>
                    <a:pt x="2363331" y="296406"/>
                  </a:lnTo>
                  <a:lnTo>
                    <a:pt x="2369470" y="287320"/>
                  </a:lnTo>
                  <a:lnTo>
                    <a:pt x="2371725" y="276225"/>
                  </a:lnTo>
                  <a:lnTo>
                    <a:pt x="2371725" y="38100"/>
                  </a:lnTo>
                  <a:lnTo>
                    <a:pt x="2369470" y="27004"/>
                  </a:lnTo>
                  <a:lnTo>
                    <a:pt x="2363331" y="17918"/>
                  </a:lnTo>
                  <a:lnTo>
                    <a:pt x="2354245" y="11779"/>
                  </a:lnTo>
                  <a:lnTo>
                    <a:pt x="2343150" y="9525"/>
                  </a:lnTo>
                  <a:lnTo>
                    <a:pt x="2367591" y="9525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67591" y="30480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2589375" y="6911250"/>
            <a:ext cx="2381250" cy="314325"/>
            <a:chOff x="2589375" y="6911250"/>
            <a:chExt cx="2381250" cy="314325"/>
          </a:xfrm>
        </p:grpSpPr>
        <p:sp>
          <p:nvSpPr>
            <p:cNvPr id="33" name="object 33"/>
            <p:cNvSpPr/>
            <p:nvPr/>
          </p:nvSpPr>
          <p:spPr>
            <a:xfrm>
              <a:off x="2589375" y="691125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589375" y="6911250"/>
              <a:ext cx="2381250" cy="314325"/>
            </a:xfrm>
            <a:custGeom>
              <a:avLst/>
              <a:gdLst/>
              <a:ahLst/>
              <a:cxnLst/>
              <a:rect l="l" t="t" r="r" b="b"/>
              <a:pathLst>
                <a:path w="2381250" h="314325">
                  <a:moveTo>
                    <a:pt x="2343150" y="314325"/>
                  </a:moveTo>
                  <a:lnTo>
                    <a:pt x="38100" y="314325"/>
                  </a:lnTo>
                  <a:lnTo>
                    <a:pt x="23306" y="311318"/>
                  </a:lnTo>
                  <a:lnTo>
                    <a:pt x="11191" y="303133"/>
                  </a:lnTo>
                  <a:lnTo>
                    <a:pt x="3006" y="291018"/>
                  </a:lnTo>
                  <a:lnTo>
                    <a:pt x="0" y="276225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343150" y="0"/>
                  </a:lnTo>
                  <a:lnTo>
                    <a:pt x="2357943" y="3006"/>
                  </a:lnTo>
                  <a:lnTo>
                    <a:pt x="2367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276225"/>
                  </a:lnTo>
                  <a:lnTo>
                    <a:pt x="11779" y="287320"/>
                  </a:lnTo>
                  <a:lnTo>
                    <a:pt x="17918" y="296406"/>
                  </a:lnTo>
                  <a:lnTo>
                    <a:pt x="27004" y="302545"/>
                  </a:lnTo>
                  <a:lnTo>
                    <a:pt x="38100" y="304800"/>
                  </a:lnTo>
                  <a:lnTo>
                    <a:pt x="2367591" y="304800"/>
                  </a:lnTo>
                  <a:lnTo>
                    <a:pt x="2357943" y="311318"/>
                  </a:lnTo>
                  <a:lnTo>
                    <a:pt x="2343150" y="314325"/>
                  </a:lnTo>
                  <a:close/>
                </a:path>
                <a:path w="2381250" h="314325">
                  <a:moveTo>
                    <a:pt x="2367591" y="304800"/>
                  </a:moveTo>
                  <a:lnTo>
                    <a:pt x="2343150" y="304800"/>
                  </a:lnTo>
                  <a:lnTo>
                    <a:pt x="2354245" y="302545"/>
                  </a:lnTo>
                  <a:lnTo>
                    <a:pt x="2363331" y="296406"/>
                  </a:lnTo>
                  <a:lnTo>
                    <a:pt x="2369470" y="287320"/>
                  </a:lnTo>
                  <a:lnTo>
                    <a:pt x="2371725" y="276225"/>
                  </a:lnTo>
                  <a:lnTo>
                    <a:pt x="2371725" y="38100"/>
                  </a:lnTo>
                  <a:lnTo>
                    <a:pt x="2369470" y="27004"/>
                  </a:lnTo>
                  <a:lnTo>
                    <a:pt x="2363331" y="17918"/>
                  </a:lnTo>
                  <a:lnTo>
                    <a:pt x="2354245" y="11779"/>
                  </a:lnTo>
                  <a:lnTo>
                    <a:pt x="2343150" y="9525"/>
                  </a:lnTo>
                  <a:lnTo>
                    <a:pt x="2367591" y="9525"/>
                  </a:lnTo>
                  <a:lnTo>
                    <a:pt x="2370058" y="11191"/>
                  </a:lnTo>
                  <a:lnTo>
                    <a:pt x="2378243" y="23306"/>
                  </a:lnTo>
                  <a:lnTo>
                    <a:pt x="2381250" y="38100"/>
                  </a:lnTo>
                  <a:lnTo>
                    <a:pt x="2381250" y="276225"/>
                  </a:lnTo>
                  <a:lnTo>
                    <a:pt x="2378243" y="291018"/>
                  </a:lnTo>
                  <a:lnTo>
                    <a:pt x="2370058" y="303133"/>
                  </a:lnTo>
                  <a:lnTo>
                    <a:pt x="2367591" y="30480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2779709" y="689526"/>
            <a:ext cx="2000885" cy="644334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Sources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400" spc="-50">
                <a:solidFill>
                  <a:srgbClr val="93A3B8"/>
                </a:solidFill>
                <a:latin typeface="Microsoft Sans Serif"/>
                <a:cs typeface="Microsoft Sans Serif"/>
              </a:rPr>
              <a:t>↓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Ingestion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 Reconciliation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400" spc="-50">
                <a:solidFill>
                  <a:srgbClr val="93A3B8"/>
                </a:solidFill>
                <a:latin typeface="Microsoft Sans Serif"/>
                <a:cs typeface="Microsoft Sans Serif"/>
              </a:rPr>
              <a:t>↓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KPI</a:t>
            </a:r>
            <a:r>
              <a:rPr dirty="0" sz="9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Semantic</a:t>
            </a:r>
            <a:r>
              <a:rPr dirty="0" sz="9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Layer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400" spc="-50">
                <a:solidFill>
                  <a:srgbClr val="93A3B8"/>
                </a:solidFill>
                <a:latin typeface="Microsoft Sans Serif"/>
                <a:cs typeface="Microsoft Sans Serif"/>
              </a:rPr>
              <a:t>↓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Anomaly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950" spc="-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Forecasting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400" spc="-50">
                <a:solidFill>
                  <a:srgbClr val="93A3B8"/>
                </a:solidFill>
                <a:latin typeface="Microsoft Sans Serif"/>
                <a:cs typeface="Microsoft Sans Serif"/>
              </a:rPr>
              <a:t>↓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Root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Cause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 Contribution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400" spc="-50">
                <a:solidFill>
                  <a:srgbClr val="93A3B8"/>
                </a:solidFill>
                <a:latin typeface="Microsoft Sans Serif"/>
                <a:cs typeface="Microsoft Sans Serif"/>
              </a:rPr>
              <a:t>↓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Confidence/Abstention</a:t>
            </a:r>
            <a:r>
              <a:rPr dirty="0" sz="9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Engine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400" spc="-50">
                <a:solidFill>
                  <a:srgbClr val="93A3B8"/>
                </a:solidFill>
                <a:latin typeface="Microsoft Sans Serif"/>
                <a:cs typeface="Microsoft Sans Serif"/>
              </a:rPr>
              <a:t>↓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Evidence</a:t>
            </a:r>
            <a:r>
              <a:rPr dirty="0" sz="9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Retrieval</a:t>
            </a:r>
            <a:r>
              <a:rPr dirty="0" sz="9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/</a:t>
            </a:r>
            <a:r>
              <a:rPr dirty="0" sz="9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0F162A"/>
                </a:solidFill>
                <a:latin typeface="Arial"/>
                <a:cs typeface="Arial"/>
              </a:rPr>
              <a:t>RAG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400" spc="-50">
                <a:solidFill>
                  <a:srgbClr val="93A3B8"/>
                </a:solidFill>
                <a:latin typeface="Microsoft Sans Serif"/>
                <a:cs typeface="Microsoft Sans Serif"/>
              </a:rPr>
              <a:t>↓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Persona</a:t>
            </a:r>
            <a:r>
              <a:rPr dirty="0" sz="9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Context</a:t>
            </a:r>
            <a:r>
              <a:rPr dirty="0" sz="9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Layer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400" spc="-50">
                <a:solidFill>
                  <a:srgbClr val="93A3B8"/>
                </a:solidFill>
                <a:latin typeface="Microsoft Sans Serif"/>
                <a:cs typeface="Microsoft Sans Serif"/>
              </a:rPr>
              <a:t>↓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Narrative</a:t>
            </a:r>
            <a:r>
              <a:rPr dirty="0" sz="950" spc="-6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Generation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400" spc="-50">
                <a:solidFill>
                  <a:srgbClr val="93A3B8"/>
                </a:solidFill>
                <a:latin typeface="Microsoft Sans Serif"/>
                <a:cs typeface="Microsoft Sans Serif"/>
              </a:rPr>
              <a:t>↓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Recommendation</a:t>
            </a:r>
            <a:r>
              <a:rPr dirty="0" sz="9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Action</a:t>
            </a:r>
            <a:r>
              <a:rPr dirty="0" sz="9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Engine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400" spc="-50">
                <a:solidFill>
                  <a:srgbClr val="93A3B8"/>
                </a:solidFill>
                <a:latin typeface="Microsoft Sans Serif"/>
                <a:cs typeface="Microsoft Sans Serif"/>
              </a:rPr>
              <a:t>↓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950" b="1">
                <a:solidFill>
                  <a:srgbClr val="0F162A"/>
                </a:solidFill>
                <a:latin typeface="Arial"/>
                <a:cs typeface="Arial"/>
              </a:rPr>
              <a:t>Feedback</a:t>
            </a:r>
            <a:r>
              <a:rPr dirty="0" sz="950" spc="-10" b="1">
                <a:solidFill>
                  <a:srgbClr val="0F162A"/>
                </a:solidFill>
                <a:latin typeface="Arial"/>
                <a:cs typeface="Arial"/>
              </a:rPr>
              <a:t> Learning</a:t>
            </a:r>
            <a:endParaRPr sz="9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7299" y="7400575"/>
            <a:ext cx="6356350" cy="2109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Architecture</a:t>
            </a:r>
            <a:r>
              <a:rPr dirty="0" sz="1050" spc="-5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Layers:</a:t>
            </a:r>
            <a:endParaRPr sz="1050">
              <a:latin typeface="Arial"/>
              <a:cs typeface="Arial"/>
            </a:endParaRPr>
          </a:p>
          <a:p>
            <a:pPr marL="201930" indent="-82550">
              <a:lnSpc>
                <a:spcPct val="100000"/>
              </a:lnSpc>
              <a:spcBef>
                <a:spcPts val="1065"/>
              </a:spcBef>
              <a:buClr>
                <a:srgbClr val="334154"/>
              </a:buClr>
              <a:buFont typeface="Microsoft Sans Serif"/>
              <a:buChar char="•"/>
              <a:tabLst>
                <a:tab pos="2019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A-C.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Data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Ingestion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Reconciliation: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Aggregates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aligns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multi-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grain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across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distinct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sources.</a:t>
            </a:r>
            <a:endParaRPr sz="1050">
              <a:latin typeface="Microsoft Sans Serif"/>
              <a:cs typeface="Microsoft Sans Serif"/>
            </a:endParaRPr>
          </a:p>
          <a:p>
            <a:pPr marL="201930" indent="-8255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Char char="•"/>
              <a:tabLst>
                <a:tab pos="2019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D.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KPI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Semantic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Layer: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Applies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configuration-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rules,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definitions,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relationships.</a:t>
            </a:r>
            <a:endParaRPr sz="1050">
              <a:latin typeface="Microsoft Sans Serif"/>
              <a:cs typeface="Microsoft Sans Serif"/>
            </a:endParaRPr>
          </a:p>
          <a:p>
            <a:pPr marL="201930" indent="-8255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Char char="•"/>
              <a:tabLst>
                <a:tab pos="2019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E.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Anomaly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Detection: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Deterministic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flagging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(rolling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z-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scores,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Prophet).</a:t>
            </a:r>
            <a:endParaRPr sz="1050">
              <a:latin typeface="Microsoft Sans Serif"/>
              <a:cs typeface="Microsoft Sans Serif"/>
            </a:endParaRPr>
          </a:p>
          <a:p>
            <a:pPr marL="201930" indent="-8255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Char char="•"/>
              <a:tabLst>
                <a:tab pos="201930" algn="l"/>
              </a:tabLst>
            </a:pP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F.</a:t>
            </a:r>
            <a:r>
              <a:rPr dirty="0" sz="105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Root</a:t>
            </a:r>
            <a:r>
              <a:rPr dirty="0" sz="105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Cause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Analysis:</a:t>
            </a:r>
            <a:r>
              <a:rPr dirty="0" sz="1050" spc="-4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Mathematical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contribution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overlap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calculation.</a:t>
            </a:r>
            <a:endParaRPr sz="1050">
              <a:latin typeface="Microsoft Sans Serif"/>
              <a:cs typeface="Microsoft Sans Serif"/>
            </a:endParaRPr>
          </a:p>
          <a:p>
            <a:pPr marL="201930" indent="-8255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Char char="•"/>
              <a:tabLst>
                <a:tab pos="2019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G.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Confidence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Engine: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Assesses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history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depth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signal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strength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calibrate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certainty.</a:t>
            </a:r>
            <a:endParaRPr sz="1050">
              <a:latin typeface="Microsoft Sans Serif"/>
              <a:cs typeface="Microsoft Sans Serif"/>
            </a:endParaRPr>
          </a:p>
          <a:p>
            <a:pPr marL="201930" indent="-8255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Char char="•"/>
              <a:tabLst>
                <a:tab pos="2019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H.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Evidence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Retrieval: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Date-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filtered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semantic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search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against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qualitative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(e.g.,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reviews).</a:t>
            </a:r>
            <a:endParaRPr sz="1050">
              <a:latin typeface="Microsoft Sans Serif"/>
              <a:cs typeface="Microsoft Sans Serif"/>
            </a:endParaRPr>
          </a:p>
          <a:p>
            <a:pPr marL="201930" marR="5080" indent="-8255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I-K.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Narrative,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Persona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Action: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LLM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synthesizes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quantitative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truth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 evidence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into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role-specific 	narratives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ranked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actions.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0000" y="1662975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0000" y="527295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0000" y="8559075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27299" y="664495"/>
            <a:ext cx="6471285" cy="909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1930" marR="5080" indent="-82550">
              <a:lnSpc>
                <a:spcPct val="125000"/>
              </a:lnSpc>
              <a:spcBef>
                <a:spcPts val="1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L-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N.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Feedback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Telemetry: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Captures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analyst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feedback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improve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rankings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logs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runtime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metrics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observability.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210185" indent="-197485">
              <a:lnSpc>
                <a:spcPct val="100000"/>
              </a:lnSpc>
              <a:spcBef>
                <a:spcPts val="5"/>
              </a:spcBef>
              <a:buClr>
                <a:srgbClr val="0369A1"/>
              </a:buClr>
              <a:buFont typeface="Arial"/>
              <a:buAutoNum type="arabicPeriod" startAt="5"/>
              <a:tabLst>
                <a:tab pos="210185" algn="l"/>
              </a:tabLst>
            </a:pPr>
            <a:r>
              <a:rPr dirty="0" sz="1400" spc="-80" b="1">
                <a:solidFill>
                  <a:srgbClr val="0369A1"/>
                </a:solidFill>
                <a:latin typeface="Arial"/>
                <a:cs typeface="Arial"/>
              </a:rPr>
              <a:t>DATA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SOURCES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AND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HETEROGENEOUS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 DATA</a:t>
            </a:r>
            <a:endParaRPr sz="1400">
              <a:latin typeface="Arial"/>
              <a:cs typeface="Arial"/>
            </a:endParaRPr>
          </a:p>
          <a:p>
            <a:pPr marL="12700" marR="215265">
              <a:lnSpc>
                <a:spcPct val="125000"/>
              </a:lnSpc>
              <a:spcBef>
                <a:spcPts val="1235"/>
              </a:spcBef>
            </a:pP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accurately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represent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realities,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cannot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exist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single-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table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vacuum.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BID’s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current multi-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source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design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ingests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processes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heterogeneous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types.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demonstrates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through: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1065"/>
              </a:spcBef>
              <a:buClr>
                <a:srgbClr val="334154"/>
              </a:buClr>
              <a:buFont typeface="Microsoft Sans Serif"/>
              <a:buChar char="•"/>
              <a:tabLst>
                <a:tab pos="201930" algn="l"/>
              </a:tabLst>
            </a:pP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Order-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Grain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Data: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Transactional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records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requiring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aggregation.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Char char="•"/>
              <a:tabLst>
                <a:tab pos="2019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Daily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Marketing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Data: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Pre-aggregated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spend,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traffic,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campaign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metrics.</a:t>
            </a:r>
            <a:endParaRPr sz="1050">
              <a:latin typeface="Microsoft Sans Serif"/>
              <a:cs typeface="Microsoft Sans Serif"/>
            </a:endParaRPr>
          </a:p>
          <a:p>
            <a:pPr lvl="1" marL="201930" marR="661670" indent="-8255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Unstructured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Evidence: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Customer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reviews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support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logs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stored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PostgreSQL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vector 	embeddings.</a:t>
            </a:r>
            <a:endParaRPr sz="1050">
              <a:latin typeface="Microsoft Sans Serif"/>
              <a:cs typeface="Microsoft Sans Serif"/>
            </a:endParaRPr>
          </a:p>
          <a:p>
            <a:pPr marL="12700" marR="213360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uses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SQL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deterministic aggregation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reconcile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these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grains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into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unified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temporal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baseline.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rely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deterministic aggregation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because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analytical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truth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must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mathematically exact.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The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current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utilizes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CSV-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based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ingestion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controlled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boundary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demonstrate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pipeline's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capabilities.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underlying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reconciliation architecture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seamlessly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accept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direct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API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connections,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warehouses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(Snowflake,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Databricks),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platform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integrations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future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expansions.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210185" indent="-197485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6"/>
              <a:tabLst>
                <a:tab pos="210185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KPI</a:t>
            </a:r>
            <a:r>
              <a:rPr dirty="0" sz="1400" spc="-4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SEMANTIC</a:t>
            </a:r>
            <a:r>
              <a:rPr dirty="0" sz="1400" spc="-4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CONTRACT</a:t>
            </a:r>
            <a:endParaRPr sz="1400">
              <a:latin typeface="Arial"/>
              <a:cs typeface="Arial"/>
            </a:endParaRPr>
          </a:p>
          <a:p>
            <a:pPr marL="12700" marR="534670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major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failure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point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ambiguous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metric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definitions.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solves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through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334154"/>
                </a:solidFill>
                <a:latin typeface="Microsoft Sans Serif"/>
                <a:cs typeface="Microsoft Sans Serif"/>
              </a:rPr>
              <a:t>a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configuration-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KPI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Semantic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Contract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Every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ecosystem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strictly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bound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metadata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contract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containing: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1065"/>
              </a:spcBef>
              <a:buChar char="•"/>
              <a:tabLst>
                <a:tab pos="201930" algn="l"/>
              </a:tabLst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Name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&amp;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Definition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har char="•"/>
              <a:tabLst>
                <a:tab pos="201930" algn="l"/>
              </a:tabLst>
            </a:pP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Calculation/Formula</a:t>
            </a:r>
            <a:r>
              <a:rPr dirty="0" sz="1050" spc="4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&amp;</a:t>
            </a:r>
            <a:r>
              <a:rPr dirty="0" sz="1050" spc="4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Unit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har char="•"/>
              <a:tabLst>
                <a:tab pos="201930" algn="l"/>
              </a:tabLst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Drivers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&amp;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Downstream Relationships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har char="•"/>
              <a:tabLst>
                <a:tab pos="201930" algn="l"/>
              </a:tabLst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Threshold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&amp;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Direction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Good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(e.g.,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higher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revenue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good;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higher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CAC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bad)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har char="•"/>
              <a:tabLst>
                <a:tab pos="201930" algn="l"/>
              </a:tabLst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Source,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Lineage,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Access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Policy</a:t>
            </a:r>
            <a:endParaRPr sz="1050">
              <a:latin typeface="Microsoft Sans Serif"/>
              <a:cs typeface="Microsoft Sans Serif"/>
            </a:endParaRPr>
          </a:p>
          <a:p>
            <a:pPr algn="just" marL="12700" marR="5080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contract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prevents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LLM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hallucinating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calculations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misinterpreting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metric's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meaning.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ensures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regardless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asking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what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LLM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model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used,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definition,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lineage,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direction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of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good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remain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immutable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globally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consistent.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7.</a:t>
            </a:r>
            <a:r>
              <a:rPr dirty="0" sz="1400" spc="-3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CONNECTED</a:t>
            </a:r>
            <a:r>
              <a:rPr dirty="0" sz="1400" spc="-3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KPI</a:t>
            </a:r>
            <a:r>
              <a:rPr dirty="0" sz="1400" spc="-3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INTELLIGENCE</a:t>
            </a:r>
            <a:endParaRPr sz="1400">
              <a:latin typeface="Arial"/>
              <a:cs typeface="Arial"/>
            </a:endParaRPr>
          </a:p>
          <a:p>
            <a:pPr marL="12700" marR="153035">
              <a:lnSpc>
                <a:spcPct val="125000"/>
              </a:lnSpc>
              <a:spcBef>
                <a:spcPts val="124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single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metric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rarely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moves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isolation.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satisfies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requirement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multi-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mapping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analyzing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connected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metric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trees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(e.g.,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334154"/>
                </a:solidFill>
                <a:latin typeface="Microsoft Sans Serif"/>
                <a:cs typeface="Microsoft Sans Serif"/>
              </a:rPr>
              <a:t>3–</a:t>
            </a:r>
            <a:r>
              <a:rPr dirty="0" sz="1050" spc="95">
                <a:solidFill>
                  <a:srgbClr val="334154"/>
                </a:solidFill>
                <a:latin typeface="Microsoft Sans Serif"/>
                <a:cs typeface="Microsoft Sans Serif"/>
              </a:rPr>
              <a:t>5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connected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KPIs).</a:t>
            </a:r>
            <a:endParaRPr sz="1050">
              <a:latin typeface="Microsoft Sans Serif"/>
              <a:cs typeface="Microsoft Sans Serif"/>
            </a:endParaRPr>
          </a:p>
          <a:p>
            <a:pPr algn="just" marL="12700">
              <a:lnSpc>
                <a:spcPct val="100000"/>
              </a:lnSpc>
              <a:spcBef>
                <a:spcPts val="1065"/>
              </a:spcBef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Example</a:t>
            </a:r>
            <a:r>
              <a:rPr dirty="0" sz="105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KPI</a:t>
            </a:r>
            <a:r>
              <a:rPr dirty="0" sz="105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Chain:</a:t>
            </a:r>
            <a:endParaRPr sz="1050">
              <a:latin typeface="Arial"/>
              <a:cs typeface="Arial"/>
            </a:endParaRPr>
          </a:p>
          <a:p>
            <a:pPr marL="12700" marR="2431415">
              <a:lnSpc>
                <a:spcPct val="133000"/>
              </a:lnSpc>
            </a:pP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Traffic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→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Visitors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→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Conversion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Rate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→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Orders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→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AOV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→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Revenue Marketing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Spend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→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CAC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→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Acquisition</a:t>
            </a:r>
            <a:r>
              <a:rPr dirty="0" sz="1050" spc="-1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Efficiency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999" y="1475749"/>
            <a:ext cx="6480175" cy="634365"/>
            <a:chOff x="539999" y="1475749"/>
            <a:chExt cx="6480175" cy="634365"/>
          </a:xfrm>
        </p:grpSpPr>
        <p:sp>
          <p:nvSpPr>
            <p:cNvPr id="3" name="object 3"/>
            <p:cNvSpPr/>
            <p:nvPr/>
          </p:nvSpPr>
          <p:spPr>
            <a:xfrm>
              <a:off x="539999" y="1475749"/>
              <a:ext cx="6480175" cy="634365"/>
            </a:xfrm>
            <a:custGeom>
              <a:avLst/>
              <a:gdLst/>
              <a:ahLst/>
              <a:cxnLst/>
              <a:rect l="l" t="t" r="r" b="b"/>
              <a:pathLst>
                <a:path w="6480175" h="634364">
                  <a:moveTo>
                    <a:pt x="6480000" y="633989"/>
                  </a:moveTo>
                  <a:lnTo>
                    <a:pt x="0" y="633989"/>
                  </a:lnTo>
                  <a:lnTo>
                    <a:pt x="0" y="0"/>
                  </a:lnTo>
                  <a:lnTo>
                    <a:pt x="6480000" y="0"/>
                  </a:lnTo>
                  <a:lnTo>
                    <a:pt x="6480000" y="633989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40000" y="1475749"/>
              <a:ext cx="38100" cy="634365"/>
            </a:xfrm>
            <a:custGeom>
              <a:avLst/>
              <a:gdLst/>
              <a:ahLst/>
              <a:cxnLst/>
              <a:rect l="l" t="t" r="r" b="b"/>
              <a:pathLst>
                <a:path w="38100" h="634364">
                  <a:moveTo>
                    <a:pt x="38100" y="633989"/>
                  </a:moveTo>
                  <a:lnTo>
                    <a:pt x="0" y="633989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633989"/>
                  </a:lnTo>
                  <a:close/>
                </a:path>
              </a:pathLst>
            </a:custGeom>
            <a:solidFill>
              <a:srgbClr val="0EA5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540000" y="3195588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0000" y="5646788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0000" y="8085187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27299" y="651696"/>
            <a:ext cx="6492875" cy="900366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158115">
              <a:lnSpc>
                <a:spcPct val="129000"/>
              </a:lnSpc>
              <a:spcBef>
                <a:spcPts val="1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Because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understands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these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relationships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via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Semantic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Contract,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elevates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analysis.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Instead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of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generating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shallow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alert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stating,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"Revenue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decreased,"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traverses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tree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deliver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connected intelligence: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93675" marR="372745">
              <a:lnSpc>
                <a:spcPct val="133000"/>
              </a:lnSpc>
            </a:pP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"Revenue</a:t>
            </a:r>
            <a:r>
              <a:rPr dirty="0" sz="100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decreased</a:t>
            </a:r>
            <a:r>
              <a:rPr dirty="0" sz="1000" spc="-1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because</a:t>
            </a:r>
            <a:r>
              <a:rPr dirty="0" sz="100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order</a:t>
            </a:r>
            <a:r>
              <a:rPr dirty="0" sz="1000" spc="-1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volume</a:t>
            </a:r>
            <a:r>
              <a:rPr dirty="0" sz="100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declined,</a:t>
            </a:r>
            <a:r>
              <a:rPr dirty="0" sz="1000" spc="-1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while</a:t>
            </a:r>
            <a:r>
              <a:rPr dirty="0" sz="100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334154"/>
                </a:solidFill>
                <a:latin typeface="Arial"/>
                <a:cs typeface="Arial"/>
              </a:rPr>
              <a:t>AOV</a:t>
            </a:r>
            <a:r>
              <a:rPr dirty="0" sz="1000" spc="-1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remained</a:t>
            </a:r>
            <a:r>
              <a:rPr dirty="0" sz="100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334154"/>
                </a:solidFill>
                <a:latin typeface="Arial"/>
                <a:cs typeface="Arial"/>
              </a:rPr>
              <a:t>relatively</a:t>
            </a:r>
            <a:r>
              <a:rPr dirty="0" sz="1000" spc="-1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stable.</a:t>
            </a:r>
            <a:r>
              <a:rPr dirty="0" sz="100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334154"/>
                </a:solidFill>
                <a:latin typeface="Arial"/>
                <a:cs typeface="Arial"/>
              </a:rPr>
              <a:t>Simultaneous acquisition-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side</a:t>
            </a:r>
            <a:r>
              <a:rPr dirty="0" sz="1000" spc="-1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changes</a:t>
            </a:r>
            <a:r>
              <a:rPr dirty="0" sz="1000" spc="-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(traffic</a:t>
            </a:r>
            <a:r>
              <a:rPr dirty="0" sz="1000" spc="-1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drop</a:t>
            </a:r>
            <a:r>
              <a:rPr dirty="0" sz="1000" spc="-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and</a:t>
            </a:r>
            <a:r>
              <a:rPr dirty="0" sz="1000" spc="-1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334154"/>
                </a:solidFill>
                <a:latin typeface="Arial"/>
                <a:cs typeface="Arial"/>
              </a:rPr>
              <a:t>CAC</a:t>
            </a:r>
            <a:r>
              <a:rPr dirty="0" sz="1000" spc="-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spike)</a:t>
            </a:r>
            <a:r>
              <a:rPr dirty="0" sz="1000" spc="-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provide</a:t>
            </a:r>
            <a:r>
              <a:rPr dirty="0" sz="1000" spc="-1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upstream</a:t>
            </a:r>
            <a:r>
              <a:rPr dirty="0" sz="1000" spc="-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context</a:t>
            </a:r>
            <a:r>
              <a:rPr dirty="0" sz="1000" spc="-1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for</a:t>
            </a:r>
            <a:r>
              <a:rPr dirty="0" sz="1000" spc="-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334154"/>
                </a:solidFill>
                <a:latin typeface="Arial"/>
                <a:cs typeface="Arial"/>
              </a:rPr>
              <a:t>this</a:t>
            </a:r>
            <a:r>
              <a:rPr dirty="0" sz="1000" spc="-10" i="1">
                <a:solidFill>
                  <a:srgbClr val="334154"/>
                </a:solidFill>
                <a:latin typeface="Arial"/>
                <a:cs typeface="Arial"/>
              </a:rPr>
              <a:t> movement."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000">
              <a:latin typeface="Arial"/>
              <a:cs typeface="Arial"/>
            </a:endParaRPr>
          </a:p>
          <a:p>
            <a:pPr marL="12700" marR="340995">
              <a:lnSpc>
                <a:spcPct val="125000"/>
              </a:lnSpc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contextual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bridging is a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core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differentiator,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transforming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isolated alerts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into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comprehensive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business investigations.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210185" indent="-197485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8"/>
              <a:tabLst>
                <a:tab pos="210185" algn="l"/>
              </a:tabLst>
            </a:pP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ANOMALY</a:t>
            </a:r>
            <a:r>
              <a:rPr dirty="0" sz="1400" spc="-6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DETECTION</a:t>
            </a:r>
            <a:endParaRPr sz="1400">
              <a:latin typeface="Arial"/>
              <a:cs typeface="Arial"/>
            </a:endParaRPr>
          </a:p>
          <a:p>
            <a:pPr marL="12700" marR="22225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relies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entirely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mathematical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frameworks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anomaly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detection.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We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do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not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use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LLMs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to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detect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anomalies.</a:t>
            </a:r>
            <a:endParaRPr sz="1050">
              <a:latin typeface="Arial"/>
              <a:cs typeface="Arial"/>
            </a:endParaRPr>
          </a:p>
          <a:p>
            <a:pPr marL="12700" marR="346710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analytical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core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utilizes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rolling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z-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scores,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configurable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thresholds,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Prophet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forecasting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to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establish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baselines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identify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deviations.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statistics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instead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generative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AI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because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anomaly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demands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reproducibility,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auditability,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and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deterministic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numeric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truth.</a:t>
            </a:r>
            <a:endParaRPr sz="1050">
              <a:latin typeface="Microsoft Sans Serif"/>
              <a:cs typeface="Microsoft Sans Serif"/>
            </a:endParaRPr>
          </a:p>
          <a:p>
            <a:pPr marL="12700" marR="187960">
              <a:lnSpc>
                <a:spcPct val="125000"/>
              </a:lnSpc>
              <a:spcBef>
                <a:spcPts val="85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BID,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materiality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calculated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combination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magnitude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movement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its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configurable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impact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threshold.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ensures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sensitive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actual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pain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points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rather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just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standard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deviations,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preventing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alert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fatigue.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210185" indent="-197485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9"/>
              <a:tabLst>
                <a:tab pos="210185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ROOT</a:t>
            </a:r>
            <a:r>
              <a:rPr dirty="0" sz="1400" spc="-5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CAUSE</a:t>
            </a:r>
            <a:r>
              <a:rPr dirty="0" sz="1400" spc="-5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ANALYSIS</a:t>
            </a:r>
            <a:endParaRPr sz="1400">
              <a:latin typeface="Arial"/>
              <a:cs typeface="Arial"/>
            </a:endParaRPr>
          </a:p>
          <a:p>
            <a:pPr marL="12700" marR="199390">
              <a:lnSpc>
                <a:spcPct val="125000"/>
              </a:lnSpc>
              <a:spcBef>
                <a:spcPts val="124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When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anomaly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detected,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BID's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quantitative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engine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performs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automated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trailing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baseline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comparisons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driver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contribution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analysis.</a:t>
            </a:r>
            <a:endParaRPr sz="1050">
              <a:latin typeface="Microsoft Sans Serif"/>
              <a:cs typeface="Microsoft Sans Serif"/>
            </a:endParaRPr>
          </a:p>
          <a:p>
            <a:pPr marL="12700" marR="79375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identifies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which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underlying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drivers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(e.g.,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product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categories,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geographic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regions,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traffic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channels) mathematically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overlap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anomaly.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calculates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product-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level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contribution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ranks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drivers,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explicitly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separating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primary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contributors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secondary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factors.</a:t>
            </a:r>
            <a:endParaRPr sz="1050">
              <a:latin typeface="Microsoft Sans Serif"/>
              <a:cs typeface="Microsoft Sans Serif"/>
            </a:endParaRPr>
          </a:p>
          <a:p>
            <a:pPr marL="12700" marR="120014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crucial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architectural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distinction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here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the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LLM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does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not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calculate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root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causes.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deterministic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pipeline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identifies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mathematical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contributors;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LLM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merely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translates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those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calculated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facts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334154"/>
                </a:solidFill>
                <a:latin typeface="Microsoft Sans Serif"/>
                <a:cs typeface="Microsoft Sans Serif"/>
              </a:rPr>
              <a:t>a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readable</a:t>
            </a:r>
            <a:r>
              <a:rPr dirty="0" sz="1050" spc="-6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narrative.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10"/>
              <a:tabLst>
                <a:tab pos="308610" algn="l"/>
              </a:tabLst>
            </a:pPr>
            <a:r>
              <a:rPr dirty="0" sz="1400" spc="-30" b="1">
                <a:solidFill>
                  <a:srgbClr val="0369A1"/>
                </a:solidFill>
                <a:latin typeface="Arial"/>
                <a:cs typeface="Arial"/>
              </a:rPr>
              <a:t>MULTI-</a:t>
            </a:r>
            <a:r>
              <a:rPr dirty="0" sz="1400" spc="-25" b="1">
                <a:solidFill>
                  <a:srgbClr val="0369A1"/>
                </a:solidFill>
                <a:latin typeface="Arial"/>
                <a:cs typeface="Arial"/>
              </a:rPr>
              <a:t>FACTOR</a:t>
            </a:r>
            <a:r>
              <a:rPr dirty="0" sz="1400" spc="-1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EXPLANATION</a:t>
            </a:r>
            <a:endParaRPr sz="1400">
              <a:latin typeface="Arial"/>
              <a:cs typeface="Arial"/>
            </a:endParaRPr>
          </a:p>
          <a:p>
            <a:pPr marL="12700" marR="34290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anomalies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rarely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single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factor.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Consider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scenario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where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revenue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falls.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same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time,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detects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orders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have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declined,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conversion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has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dropped,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specific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product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category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has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collapsed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sales,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customer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evidence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suddenly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references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availability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issues.</a:t>
            </a:r>
            <a:endParaRPr sz="1050">
              <a:latin typeface="Microsoft Sans Serif"/>
              <a:cs typeface="Microsoft Sans Serif"/>
            </a:endParaRPr>
          </a:p>
          <a:p>
            <a:pPr marL="12700" marR="191135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excels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multi-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factor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explanation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combining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quantitative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contribution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analysis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(the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collapsed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product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category,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conversion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drop)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supporting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qualitative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evidence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(the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customer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complaints).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The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resulting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output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synthesized,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highly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credible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investigation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report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where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numerical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facts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qualitative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context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reinforce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each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other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seamlessly.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0000" y="102480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0000" y="3739425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0000" y="5682525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0000" y="7625625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7299" y="703568"/>
            <a:ext cx="6478270" cy="9025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8610" indent="-295910">
              <a:lnSpc>
                <a:spcPct val="100000"/>
              </a:lnSpc>
              <a:spcBef>
                <a:spcPts val="100"/>
              </a:spcBef>
              <a:buClr>
                <a:srgbClr val="0369A1"/>
              </a:buClr>
              <a:buFont typeface="Arial"/>
              <a:buAutoNum type="arabicPeriod" startAt="11"/>
              <a:tabLst>
                <a:tab pos="308610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CONFIDENCE</a:t>
            </a:r>
            <a:r>
              <a:rPr dirty="0" sz="1400" spc="-3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AND</a:t>
            </a:r>
            <a:r>
              <a:rPr dirty="0" sz="1400" spc="-3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ABSTENTION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not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LLM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hallucination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BID;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computed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metric.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evaluates deterministic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confidence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signals,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including: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1065"/>
              </a:spcBef>
              <a:buClr>
                <a:srgbClr val="334154"/>
              </a:buClr>
              <a:buFont typeface="Microsoft Sans Serif"/>
              <a:buChar char="•"/>
              <a:tabLst>
                <a:tab pos="2019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History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Depth: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enough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historical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trust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baseline?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Char char="•"/>
              <a:tabLst>
                <a:tab pos="2019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Credible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Drivers: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clear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primary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driver,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competing,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noisy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signals?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Char char="•"/>
              <a:tabLst>
                <a:tab pos="2019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Evidence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Availability: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Does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qualitative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data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support or contradict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quantitative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movement?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High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Confidence: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explains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root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cause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recommends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decisive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action.</a:t>
            </a:r>
            <a:endParaRPr sz="1050">
              <a:latin typeface="Microsoft Sans Serif"/>
              <a:cs typeface="Microsoft Sans Serif"/>
            </a:endParaRPr>
          </a:p>
          <a:p>
            <a:pPr marL="12700" marR="287655">
              <a:lnSpc>
                <a:spcPct val="125000"/>
              </a:lnSpc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Low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Confidence: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triggers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Abstention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Engine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.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explicitly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communicates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uncertainty,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avoids overclaiming,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requests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clarification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or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human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investigation.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Abstention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deliberate,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highly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valuable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product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feature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directly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aligns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problem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statement's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requirement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safe,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reliable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AI.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12"/>
              <a:tabLst>
                <a:tab pos="308610" algn="l"/>
              </a:tabLst>
            </a:pP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SPARSE</a:t>
            </a:r>
            <a:r>
              <a:rPr dirty="0" sz="1400" spc="-4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HISTORY</a:t>
            </a:r>
            <a:endParaRPr sz="1400">
              <a:latin typeface="Arial"/>
              <a:cs typeface="Arial"/>
            </a:endParaRPr>
          </a:p>
          <a:p>
            <a:pPr marL="12700" marR="396875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When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tracking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newly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launched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recently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introduced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products,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often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face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sparse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history. Conventional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AI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tools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attempt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extrapolate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wildly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hallucinate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patterns.</a:t>
            </a:r>
            <a:endParaRPr sz="1050">
              <a:latin typeface="Microsoft Sans Serif"/>
              <a:cs typeface="Microsoft Sans Serif"/>
            </a:endParaRPr>
          </a:p>
          <a:p>
            <a:pPr marL="12700" marR="116839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recognizes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insufficient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historical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context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mathematically.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When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sparse,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enforces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reduced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scores,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applies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cautious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interpretation,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explicitly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states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uncertainty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user,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and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refuses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fabricate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certainty.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ensures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remains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trusted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advisor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even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when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operating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the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edges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data.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13"/>
              <a:tabLst>
                <a:tab pos="308610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EVIDENCE</a:t>
            </a:r>
            <a:r>
              <a:rPr dirty="0" sz="1400" spc="-4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/</a:t>
            </a:r>
            <a:r>
              <a:rPr dirty="0" sz="1400" spc="-4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0369A1"/>
                </a:solidFill>
                <a:latin typeface="Arial"/>
                <a:cs typeface="Arial"/>
              </a:rPr>
              <a:t>RAG</a:t>
            </a:r>
            <a:endParaRPr sz="1400">
              <a:latin typeface="Arial"/>
              <a:cs typeface="Arial"/>
            </a:endParaRPr>
          </a:p>
          <a:p>
            <a:pPr marL="12700" marR="376555">
              <a:lnSpc>
                <a:spcPct val="125000"/>
              </a:lnSpc>
              <a:spcBef>
                <a:spcPts val="1240"/>
              </a:spcBef>
            </a:pP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ground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quantitative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anomalies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real-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world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context,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employs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Retrieval-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Augmented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Generation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(RAG)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architecture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evidence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retrieval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against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customer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reviews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support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tickets.</a:t>
            </a:r>
            <a:endParaRPr sz="1050">
              <a:latin typeface="Microsoft Sans Serif"/>
              <a:cs typeface="Microsoft Sans Serif"/>
            </a:endParaRPr>
          </a:p>
          <a:p>
            <a:pPr marL="12700" marR="24765">
              <a:lnSpc>
                <a:spcPct val="125000"/>
              </a:lnSpc>
              <a:spcBef>
                <a:spcPts val="750"/>
              </a:spcBef>
            </a:pP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Crucially,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utilizes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date-first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filtering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before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generating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embeddings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calculating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cosine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similarity.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This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matters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immensely: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highly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relevant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complaint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about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"website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checkout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crashing"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six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months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ago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is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useless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diagnosing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today's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conversion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drop.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enforcing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temporal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relevance,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evidence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retrieved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actively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strengthens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current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narrative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grounds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LLM’s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output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verifiable,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time-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accurate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reality.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spcBef>
                <a:spcPts val="5"/>
              </a:spcBef>
              <a:buClr>
                <a:srgbClr val="0369A1"/>
              </a:buClr>
              <a:buFont typeface="Arial"/>
              <a:buAutoNum type="arabicPeriod" startAt="14"/>
              <a:tabLst>
                <a:tab pos="308610" algn="l"/>
              </a:tabLst>
            </a:pP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PERSONAS</a:t>
            </a:r>
            <a:endParaRPr sz="1400">
              <a:latin typeface="Arial"/>
              <a:cs typeface="Arial"/>
            </a:endParaRPr>
          </a:p>
          <a:p>
            <a:pPr marL="12700" marR="168910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10%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drop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revenue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requires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depending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looking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screen.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features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334154"/>
                </a:solidFill>
                <a:latin typeface="Microsoft Sans Serif"/>
                <a:cs typeface="Microsoft Sans Serif"/>
              </a:rPr>
              <a:t>a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persona-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aware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layer.</a:t>
            </a:r>
            <a:endParaRPr sz="1050">
              <a:latin typeface="Microsoft Sans Serif"/>
              <a:cs typeface="Microsoft Sans Serif"/>
            </a:endParaRPr>
          </a:p>
          <a:p>
            <a:pPr lvl="1" marL="201930" marR="102870" indent="-82550">
              <a:lnSpc>
                <a:spcPct val="125000"/>
              </a:lnSpc>
              <a:spcBef>
                <a:spcPts val="75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Marketing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Manager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Persona: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Receives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interpretation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focused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traffic,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conversion,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spend,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CAC,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channel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performance.</a:t>
            </a:r>
            <a:endParaRPr sz="1050">
              <a:latin typeface="Microsoft Sans Serif"/>
              <a:cs typeface="Microsoft Sans Serif"/>
            </a:endParaRPr>
          </a:p>
          <a:p>
            <a:pPr lvl="1" marL="201930" marR="98425" indent="-8255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Sales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/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Operations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Manager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Persona: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Receives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interpretation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focused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orders,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AOV,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product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mix,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fulfilment-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adjacent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issues.</a:t>
            </a:r>
            <a:endParaRPr sz="1050">
              <a:latin typeface="Microsoft Sans Serif"/>
              <a:cs typeface="Microsoft Sans Serif"/>
            </a:endParaRPr>
          </a:p>
          <a:p>
            <a:pPr marL="12700" marR="43180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understands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people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control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levers.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dynamically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adjusting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narrative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recommended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based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user's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role,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provides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actionable,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role-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aware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decision intelligence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rather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generic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summaries.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0000" y="102480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39999" y="1472475"/>
            <a:ext cx="6480175" cy="419100"/>
            <a:chOff x="539999" y="1472475"/>
            <a:chExt cx="6480175" cy="419100"/>
          </a:xfrm>
        </p:grpSpPr>
        <p:sp>
          <p:nvSpPr>
            <p:cNvPr id="4" name="object 4"/>
            <p:cNvSpPr/>
            <p:nvPr/>
          </p:nvSpPr>
          <p:spPr>
            <a:xfrm>
              <a:off x="539999" y="1472475"/>
              <a:ext cx="6480175" cy="419100"/>
            </a:xfrm>
            <a:custGeom>
              <a:avLst/>
              <a:gdLst/>
              <a:ahLst/>
              <a:cxnLst/>
              <a:rect l="l" t="t" r="r" b="b"/>
              <a:pathLst>
                <a:path w="6480175" h="419100">
                  <a:moveTo>
                    <a:pt x="6480000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6480000" y="0"/>
                  </a:lnTo>
                  <a:lnTo>
                    <a:pt x="6480000" y="419100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0000" y="1472475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100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419100"/>
                  </a:lnTo>
                  <a:close/>
                </a:path>
              </a:pathLst>
            </a:custGeom>
            <a:solidFill>
              <a:srgbClr val="0EA5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540000" y="3377475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0000" y="561585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27299" y="703568"/>
            <a:ext cx="6494145" cy="5187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8610" indent="-295910">
              <a:lnSpc>
                <a:spcPct val="100000"/>
              </a:lnSpc>
              <a:spcBef>
                <a:spcPts val="100"/>
              </a:spcBef>
              <a:buClr>
                <a:srgbClr val="0369A1"/>
              </a:buClr>
              <a:buFont typeface="Arial"/>
              <a:buAutoNum type="arabicPeriod" startAt="15"/>
              <a:tabLst>
                <a:tab pos="308610" algn="l"/>
              </a:tabLst>
            </a:pP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RECOMMENDATION</a:t>
            </a:r>
            <a:r>
              <a:rPr dirty="0" sz="1400" spc="2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ENGINE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BID’s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recommendation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engine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maps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identified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drivers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controllable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levers.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93675">
              <a:lnSpc>
                <a:spcPct val="100000"/>
              </a:lnSpc>
              <a:spcBef>
                <a:spcPts val="5"/>
              </a:spcBef>
            </a:pP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Driver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Controllable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Lever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Action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Expected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Impact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Owner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Confidence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→</a:t>
            </a:r>
            <a:r>
              <a:rPr dirty="0" sz="100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Monitoring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0F162A"/>
                </a:solidFill>
                <a:latin typeface="Arial"/>
                <a:cs typeface="Arial"/>
              </a:rPr>
              <a:t>Plan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"/>
              </a:spcBef>
            </a:pP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Recommendations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drawn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configuration-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candidate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catalog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governed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business</a:t>
            </a:r>
            <a:r>
              <a:rPr dirty="0" sz="1050" spc="50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rules.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grounded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entirely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actual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observed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drivers,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purposefully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avoiding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generic,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unhelpful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AI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advice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(e.g.,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"try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increase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sales").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ranking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signals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prioritize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most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based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the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specific</a:t>
            </a:r>
            <a:r>
              <a:rPr dirty="0" sz="1050" spc="-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operational</a:t>
            </a:r>
            <a:r>
              <a:rPr dirty="0" sz="1050" spc="-4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context.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16"/>
              <a:tabLst>
                <a:tab pos="308610" algn="l"/>
              </a:tabLst>
            </a:pP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FEEDBACK</a:t>
            </a:r>
            <a:r>
              <a:rPr dirty="0" sz="1400" spc="-3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LEARNING</a:t>
            </a:r>
            <a:r>
              <a:rPr dirty="0" sz="1400" spc="-3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LOOP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Decision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must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improve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over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time.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incorporates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closed-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loop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feedback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mechanism.</a:t>
            </a:r>
            <a:endParaRPr sz="1050">
              <a:latin typeface="Microsoft Sans Serif"/>
              <a:cs typeface="Microsoft Sans Serif"/>
            </a:endParaRPr>
          </a:p>
          <a:p>
            <a:pPr marL="12700" marR="86995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Analysts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rate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recommendations,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log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taken,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record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outcomes.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feedback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stored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and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converted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historical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scoring,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which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ranking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signal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prioritize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highly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rated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future anomalies.</a:t>
            </a:r>
            <a:endParaRPr sz="1050">
              <a:latin typeface="Microsoft Sans Serif"/>
              <a:cs typeface="Microsoft Sans Serif"/>
            </a:endParaRPr>
          </a:p>
          <a:p>
            <a:pPr algn="just" marL="12700" marR="129539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current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demonstrates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feedback-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aware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recommendation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ranking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based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action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catalog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feedback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variables.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same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feedback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architecture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seamlessly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support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broader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outcome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learning,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continuous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evaluation,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richer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model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retraining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deployment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grows.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spcBef>
                <a:spcPts val="5"/>
              </a:spcBef>
              <a:buClr>
                <a:srgbClr val="0369A1"/>
              </a:buClr>
              <a:buFont typeface="Arial"/>
              <a:buAutoNum type="arabicPeriod" startAt="17"/>
              <a:tabLst>
                <a:tab pos="308610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DETERMINISTIC</a:t>
            </a:r>
            <a:r>
              <a:rPr dirty="0" sz="1400" spc="-4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VS</a:t>
            </a:r>
            <a:r>
              <a:rPr dirty="0" sz="1400" spc="-3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LLM</a:t>
            </a:r>
            <a:r>
              <a:rPr dirty="0" sz="1400" spc="-3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PROCESSING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BID's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strictest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architectural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rule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separation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quantitative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truth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language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processing.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39999" y="720000"/>
          <a:ext cx="6556375" cy="5438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0665"/>
                <a:gridCol w="1359535"/>
                <a:gridCol w="1776729"/>
                <a:gridCol w="1824354"/>
              </a:tblGrid>
              <a:tr h="381000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Layer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9715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Method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9715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Why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50" spc="-5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used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9715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Why</a:t>
                      </a:r>
                      <a:r>
                        <a:rPr dirty="0" sz="950" spc="-2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LLM</a:t>
                      </a:r>
                      <a:r>
                        <a:rPr dirty="0" sz="950" spc="-15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950" spc="-2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950" spc="-15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used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9715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Reconciliation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SQL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Deterministic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21971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Ensures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exact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alignment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of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grains.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29908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LLMs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hallucinate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joins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aggregations.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KPI</a:t>
                      </a:r>
                      <a:r>
                        <a:rPr dirty="0" sz="950" spc="-3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Calculation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Math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/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Logic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Immutable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business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rules.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426084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LLMs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struggle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strict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arithmetic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rules.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Anomaly</a:t>
                      </a:r>
                      <a:r>
                        <a:rPr dirty="0" sz="950" spc="-5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Detection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27178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Statistics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4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(Z-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score, Prophet)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84963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Auditability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reproducibility.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426084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LLMs lack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mathematical consistency.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Driver</a:t>
                      </a:r>
                      <a:r>
                        <a:rPr dirty="0" sz="950" spc="-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Contribution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Mathematical</a:t>
                      </a:r>
                      <a:r>
                        <a:rPr dirty="0" sz="950" spc="-4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overlap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49085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Exact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quantification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of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variance.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51054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LLMs guess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numerical attribution.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Confidence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63436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Rule-based heuristics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Safe,</a:t>
                      </a:r>
                      <a:r>
                        <a:rPr dirty="0" sz="950" spc="-3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transparent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abstention.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81343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LLMs suffer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from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overconfidence.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Evidence</a:t>
                      </a:r>
                      <a:r>
                        <a:rPr dirty="0" sz="950" spc="-4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Retrieval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07314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Vector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Search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Date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Filter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Grounds insights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reality.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25654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Prevents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LLM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fabrication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of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evidence.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99695" marR="39052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Recommendation Ranking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ML /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Catalog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518159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Ensures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actions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tie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to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business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levers.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8034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Avoids</a:t>
                      </a:r>
                      <a:r>
                        <a:rPr dirty="0" sz="950" spc="-3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generic,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unactionable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AI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advice.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Narrative</a:t>
                      </a:r>
                      <a:r>
                        <a:rPr dirty="0" sz="950" spc="-6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Generation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LLM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51752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Contextualization</a:t>
                      </a:r>
                      <a:r>
                        <a:rPr dirty="0" sz="950" spc="7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readability.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34417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Pure code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produces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rigid,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robotic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text.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Action</a:t>
                      </a:r>
                      <a:r>
                        <a:rPr dirty="0" sz="950" spc="-25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Phrasing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LLM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78041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Persona-specific communication.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227329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Needs linguistic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adaptability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for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roles.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539999" y="6358800"/>
            <a:ext cx="6480175" cy="584200"/>
            <a:chOff x="539999" y="6358800"/>
            <a:chExt cx="6480175" cy="584200"/>
          </a:xfrm>
        </p:grpSpPr>
        <p:sp>
          <p:nvSpPr>
            <p:cNvPr id="4" name="object 4"/>
            <p:cNvSpPr/>
            <p:nvPr/>
          </p:nvSpPr>
          <p:spPr>
            <a:xfrm>
              <a:off x="539999" y="6358800"/>
              <a:ext cx="6480175" cy="584200"/>
            </a:xfrm>
            <a:custGeom>
              <a:avLst/>
              <a:gdLst/>
              <a:ahLst/>
              <a:cxnLst/>
              <a:rect l="l" t="t" r="r" b="b"/>
              <a:pathLst>
                <a:path w="6480175" h="584200">
                  <a:moveTo>
                    <a:pt x="6480000" y="583694"/>
                  </a:moveTo>
                  <a:lnTo>
                    <a:pt x="0" y="583694"/>
                  </a:lnTo>
                  <a:lnTo>
                    <a:pt x="0" y="0"/>
                  </a:lnTo>
                  <a:lnTo>
                    <a:pt x="6480000" y="0"/>
                  </a:lnTo>
                  <a:lnTo>
                    <a:pt x="6480000" y="583694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0000" y="6358800"/>
              <a:ext cx="38100" cy="584200"/>
            </a:xfrm>
            <a:custGeom>
              <a:avLst/>
              <a:gdLst/>
              <a:ahLst/>
              <a:cxnLst/>
              <a:rect l="l" t="t" r="r" b="b"/>
              <a:pathLst>
                <a:path w="38100" h="584200">
                  <a:moveTo>
                    <a:pt x="38100" y="583694"/>
                  </a:moveTo>
                  <a:lnTo>
                    <a:pt x="0" y="583694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583694"/>
                  </a:lnTo>
                  <a:close/>
                </a:path>
              </a:pathLst>
            </a:custGeom>
            <a:solidFill>
              <a:srgbClr val="0EA5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540000" y="7485419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27299" y="6412776"/>
            <a:ext cx="6492875" cy="2642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8620" marR="334645" indent="-2536825">
              <a:lnSpc>
                <a:spcPct val="125000"/>
              </a:lnSpc>
              <a:spcBef>
                <a:spcPts val="100"/>
              </a:spcBef>
            </a:pP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[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NON-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LLM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/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0F162A"/>
                </a:solidFill>
                <a:latin typeface="Arial"/>
                <a:cs typeface="Arial"/>
              </a:rPr>
              <a:t>QUANTITATIVE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TRUTH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]</a:t>
            </a:r>
            <a:r>
              <a:rPr dirty="0" sz="1000" spc="254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——</a:t>
            </a:r>
            <a:r>
              <a:rPr dirty="0" sz="1000" spc="25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 i="1">
                <a:solidFill>
                  <a:srgbClr val="0F162A"/>
                </a:solidFill>
                <a:latin typeface="Arial"/>
                <a:cs typeface="Arial"/>
              </a:rPr>
              <a:t>feeds</a:t>
            </a:r>
            <a:r>
              <a:rPr dirty="0" sz="1000" spc="-10" b="1" i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 i="1">
                <a:solidFill>
                  <a:srgbClr val="0F162A"/>
                </a:solidFill>
                <a:latin typeface="Arial"/>
                <a:cs typeface="Arial"/>
              </a:rPr>
              <a:t>validated</a:t>
            </a:r>
            <a:r>
              <a:rPr dirty="0" sz="1000" spc="-5" b="1" i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 i="1">
                <a:solidFill>
                  <a:srgbClr val="0F162A"/>
                </a:solidFill>
                <a:latin typeface="Arial"/>
                <a:cs typeface="Arial"/>
              </a:rPr>
              <a:t>data</a:t>
            </a:r>
            <a:r>
              <a:rPr dirty="0" sz="1000" spc="-10" b="1" i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 i="1">
                <a:solidFill>
                  <a:srgbClr val="0F162A"/>
                </a:solidFill>
                <a:latin typeface="Arial"/>
                <a:cs typeface="Arial"/>
              </a:rPr>
              <a:t>into</a:t>
            </a:r>
            <a:r>
              <a:rPr dirty="0" sz="1000" spc="250" b="1" i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—→</a:t>
            </a:r>
            <a:r>
              <a:rPr dirty="0" sz="1000" spc="254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[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LLM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/</a:t>
            </a:r>
            <a:r>
              <a:rPr dirty="0" sz="1000" spc="-10" b="1">
                <a:solidFill>
                  <a:srgbClr val="0F162A"/>
                </a:solidFill>
                <a:latin typeface="Arial"/>
                <a:cs typeface="Arial"/>
              </a:rPr>
              <a:t> LANGUAGE </a:t>
            </a:r>
            <a:r>
              <a:rPr dirty="0" sz="1000" spc="-50" b="1">
                <a:solidFill>
                  <a:srgbClr val="0F162A"/>
                </a:solidFill>
                <a:latin typeface="Arial"/>
                <a:cs typeface="Arial"/>
              </a:rPr>
              <a:t>+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CONTEXT</a:t>
            </a:r>
            <a:r>
              <a:rPr dirty="0" sz="100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spc="-50" b="1">
                <a:solidFill>
                  <a:srgbClr val="0F162A"/>
                </a:solidFill>
                <a:latin typeface="Arial"/>
                <a:cs typeface="Arial"/>
              </a:rPr>
              <a:t>]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18.</a:t>
            </a:r>
            <a:r>
              <a:rPr dirty="0" sz="1400" spc="-3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SECURITY</a:t>
            </a:r>
            <a:r>
              <a:rPr dirty="0" sz="1400" spc="-3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AND</a:t>
            </a:r>
            <a:r>
              <a:rPr dirty="0" sz="1400" spc="-3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ENTITLEMENTS</a:t>
            </a:r>
            <a:endParaRPr sz="1400">
              <a:latin typeface="Arial"/>
              <a:cs typeface="Arial"/>
            </a:endParaRPr>
          </a:p>
          <a:p>
            <a:pPr marL="12700" marR="248285">
              <a:lnSpc>
                <a:spcPct val="125000"/>
              </a:lnSpc>
              <a:spcBef>
                <a:spcPts val="124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utilizes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persona-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aware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entitlement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architecture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governs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identity,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allowed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KPIs,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allowed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sources,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allowed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features.</a:t>
            </a:r>
            <a:endParaRPr sz="1050">
              <a:latin typeface="Microsoft Sans Serif"/>
              <a:cs typeface="Microsoft Sans Serif"/>
            </a:endParaRPr>
          </a:p>
          <a:p>
            <a:pPr marL="12700" marR="89535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backend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dynamically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enforces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what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permitted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see.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example,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Manager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not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entitled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view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sensitive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financial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margins,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while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Sales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receives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operational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required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their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decisions.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current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demonstrates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persona-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aware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access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patterns,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enterprise-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grade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field-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level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enforcement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positioned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seamless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deployment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hardening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step.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enables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scalable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enterprise deployment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without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redesigning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core.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0000" y="102480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0000" y="2767875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0000" y="4723774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0000" y="7847974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539999" y="9203798"/>
            <a:ext cx="6480175" cy="419100"/>
            <a:chOff x="539999" y="9203798"/>
            <a:chExt cx="6480175" cy="419100"/>
          </a:xfrm>
        </p:grpSpPr>
        <p:sp>
          <p:nvSpPr>
            <p:cNvPr id="7" name="object 7"/>
            <p:cNvSpPr/>
            <p:nvPr/>
          </p:nvSpPr>
          <p:spPr>
            <a:xfrm>
              <a:off x="539999" y="9203798"/>
              <a:ext cx="6480175" cy="419100"/>
            </a:xfrm>
            <a:custGeom>
              <a:avLst/>
              <a:gdLst/>
              <a:ahLst/>
              <a:cxnLst/>
              <a:rect l="l" t="t" r="r" b="b"/>
              <a:pathLst>
                <a:path w="6480175" h="419100">
                  <a:moveTo>
                    <a:pt x="6480000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6480000" y="0"/>
                  </a:lnTo>
                  <a:lnTo>
                    <a:pt x="6480000" y="419100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0000" y="9203799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100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419100"/>
                  </a:lnTo>
                  <a:close/>
                </a:path>
              </a:pathLst>
            </a:custGeom>
            <a:solidFill>
              <a:srgbClr val="0EA5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27299" y="703568"/>
            <a:ext cx="6492875" cy="9232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8610" indent="-295910">
              <a:lnSpc>
                <a:spcPct val="100000"/>
              </a:lnSpc>
              <a:spcBef>
                <a:spcPts val="100"/>
              </a:spcBef>
              <a:buClr>
                <a:srgbClr val="0369A1"/>
              </a:buClr>
              <a:buFont typeface="Arial"/>
              <a:buAutoNum type="arabicPeriod" startAt="19"/>
              <a:tabLst>
                <a:tab pos="308610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RUNTIME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TELEMETRY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AND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LLM</a:t>
            </a:r>
            <a:r>
              <a:rPr dirty="0" sz="1400" spc="-1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ECONOMICS</a:t>
            </a:r>
            <a:endParaRPr sz="1400">
              <a:latin typeface="Arial"/>
              <a:cs typeface="Arial"/>
            </a:endParaRPr>
          </a:p>
          <a:p>
            <a:pPr algn="just" marL="12700" marR="109220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AI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must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measurable,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not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just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accurate.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features built-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runtime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telemetry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actively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tracks latency,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LLM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counts,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token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usage,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model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selection,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estimated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cost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insight.</a:t>
            </a:r>
            <a:endParaRPr sz="1050">
              <a:latin typeface="Microsoft Sans Serif"/>
              <a:cs typeface="Microsoft Sans Serif"/>
            </a:endParaRPr>
          </a:p>
          <a:p>
            <a:pPr algn="just" marL="12700" marR="463550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observability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ensures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operates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within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realistic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economic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constraints.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monitoring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token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efficiency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tracking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cost,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architecture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allows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future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provider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substitution,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caching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layers,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and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optimization,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ensuring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scales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profitably.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20"/>
              <a:tabLst>
                <a:tab pos="308610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PDF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/</a:t>
            </a:r>
            <a:r>
              <a:rPr dirty="0" sz="1400" spc="-1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REPORTING</a:t>
            </a:r>
            <a:endParaRPr sz="1400">
              <a:latin typeface="Arial"/>
              <a:cs typeface="Arial"/>
            </a:endParaRPr>
          </a:p>
          <a:p>
            <a:pPr marL="12700" marR="21590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 includes a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comprehensive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report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generation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capability.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When an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investigation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is complete, the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workspace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render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formatted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PDF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containing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movement,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root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cause,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score,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evidence,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narrative, recommendations,</a:t>
            </a:r>
            <a:r>
              <a:rPr dirty="0" sz="1050" spc="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context.</a:t>
            </a:r>
            <a:endParaRPr sz="1050">
              <a:latin typeface="Microsoft Sans Serif"/>
              <a:cs typeface="Microsoft Sans Serif"/>
            </a:endParaRPr>
          </a:p>
          <a:p>
            <a:pPr marL="12700" marR="226695">
              <a:lnSpc>
                <a:spcPct val="125000"/>
              </a:lnSpc>
              <a:spcBef>
                <a:spcPts val="855"/>
              </a:spcBef>
            </a:pP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Crucially,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PDF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renderer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consumes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already-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computed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analysis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object.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does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not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needlessly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trigger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new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LLM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calls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generate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report,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preserving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token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economics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ensuring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absolute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consistency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between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screen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exported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document.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21"/>
              <a:tabLst>
                <a:tab pos="308610" algn="l"/>
              </a:tabLst>
            </a:pPr>
            <a:r>
              <a:rPr dirty="0" sz="1400" spc="-35" b="1">
                <a:solidFill>
                  <a:srgbClr val="0369A1"/>
                </a:solidFill>
                <a:latin typeface="Arial"/>
                <a:cs typeface="Arial"/>
              </a:rPr>
              <a:t>WORKSPACE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/</a:t>
            </a:r>
            <a:r>
              <a:rPr dirty="0" sz="1400" spc="-1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USER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EXPERIENCE</a:t>
            </a:r>
            <a:endParaRPr sz="1400">
              <a:latin typeface="Arial"/>
              <a:cs typeface="Arial"/>
            </a:endParaRPr>
          </a:p>
          <a:p>
            <a:pPr marL="12700" marR="471170">
              <a:lnSpc>
                <a:spcPct val="184500"/>
              </a:lnSpc>
              <a:spcBef>
                <a:spcPts val="49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highly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interactive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React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workspace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specifically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"decision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workspace."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UI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features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multiple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synchronized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analysis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panels: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1065"/>
              </a:spcBef>
              <a:buChar char="•"/>
              <a:tabLst>
                <a:tab pos="201930" algn="l"/>
              </a:tabLst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Selection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plotting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har char="•"/>
              <a:tabLst>
                <a:tab pos="201930" algn="l"/>
              </a:tabLst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Anomaly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root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cause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visualization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har char="•"/>
              <a:tabLst>
                <a:tab pos="201930" algn="l"/>
              </a:tabLst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RAG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Evidence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viewer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har char="•"/>
              <a:tabLst>
                <a:tab pos="201930" algn="l"/>
              </a:tabLst>
            </a:pP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Conversational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assistant for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deep-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dives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har char="•"/>
              <a:tabLst>
                <a:tab pos="201930" algn="l"/>
              </a:tabLst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Custom</a:t>
            </a:r>
            <a:r>
              <a:rPr dirty="0" sz="1050" spc="-5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50" spc="-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creation</a:t>
            </a:r>
            <a:r>
              <a:rPr dirty="0" sz="1050" spc="-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pane</a:t>
            </a:r>
            <a:endParaRPr sz="1050">
              <a:latin typeface="Microsoft Sans Serif"/>
              <a:cs typeface="Microsoft Sans Serif"/>
            </a:endParaRPr>
          </a:p>
          <a:p>
            <a:pPr lvl="1" marL="201930" indent="-82550">
              <a:lnSpc>
                <a:spcPct val="100000"/>
              </a:lnSpc>
              <a:spcBef>
                <a:spcPts val="615"/>
              </a:spcBef>
              <a:buChar char="•"/>
              <a:tabLst>
                <a:tab pos="201930" algn="l"/>
              </a:tabLst>
            </a:pP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One-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click</a:t>
            </a:r>
            <a:r>
              <a:rPr dirty="0" sz="1050" spc="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report</a:t>
            </a:r>
            <a:r>
              <a:rPr dirty="0" sz="1050" spc="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generation</a:t>
            </a:r>
            <a:endParaRPr sz="1050">
              <a:latin typeface="Microsoft Sans Serif"/>
              <a:cs typeface="Microsoft Sans Serif"/>
            </a:endParaRPr>
          </a:p>
          <a:p>
            <a:pPr marL="12700" marR="612140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engineered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reflect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workflow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analyst,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keeping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quantitative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charts,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the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qualitative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evidence,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LLM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narrative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visible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simultaneously.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22"/>
              <a:tabLst>
                <a:tab pos="308610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CUSTOM</a:t>
            </a:r>
            <a:r>
              <a:rPr dirty="0" sz="1400" spc="-6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KPI</a:t>
            </a:r>
            <a:r>
              <a:rPr dirty="0" sz="1400" spc="-6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EXTENSIBILITY</a:t>
            </a:r>
            <a:endParaRPr sz="1400">
              <a:latin typeface="Arial"/>
              <a:cs typeface="Arial"/>
            </a:endParaRPr>
          </a:p>
          <a:p>
            <a:pPr marL="12700" marR="403225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allows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users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define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custom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dynamically.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Users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define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through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semantic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contract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(business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name,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formula,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unit,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threshold,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direction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good,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etc.).</a:t>
            </a:r>
            <a:endParaRPr sz="1050">
              <a:latin typeface="Microsoft Sans Serif"/>
              <a:cs typeface="Microsoft Sans Serif"/>
            </a:endParaRPr>
          </a:p>
          <a:p>
            <a:pPr marL="12700" marR="45085">
              <a:lnSpc>
                <a:spcPct val="129000"/>
              </a:lnSpc>
              <a:spcBef>
                <a:spcPts val="700"/>
              </a:spcBef>
            </a:pP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Cross-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source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calculation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so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variables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datasets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participate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derived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is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critical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note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additional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source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fields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input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variables</a:t>
            </a:r>
            <a:r>
              <a:rPr dirty="0" sz="1050" spc="-3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calculating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derived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KPI;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not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automatically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treated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independent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themselves.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93675">
              <a:lnSpc>
                <a:spcPct val="100000"/>
              </a:lnSpc>
            </a:pP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Conceptual</a:t>
            </a:r>
            <a:r>
              <a:rPr dirty="0" sz="100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F162A"/>
                </a:solidFill>
                <a:latin typeface="Arial"/>
                <a:cs typeface="Arial"/>
              </a:rPr>
              <a:t>flow:</a:t>
            </a:r>
            <a:r>
              <a:rPr dirty="0" sz="100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34154"/>
                </a:solidFill>
                <a:latin typeface="Microsoft Sans Serif"/>
                <a:cs typeface="Microsoft Sans Serif"/>
              </a:rPr>
              <a:t>Source</a:t>
            </a:r>
            <a:r>
              <a:rPr dirty="0" sz="100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34154"/>
                </a:solidFill>
                <a:latin typeface="Microsoft Sans Serif"/>
                <a:cs typeface="Microsoft Sans Serif"/>
              </a:rPr>
              <a:t>Datasets</a:t>
            </a:r>
            <a:r>
              <a:rPr dirty="0" sz="100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34154"/>
                </a:solidFill>
                <a:latin typeface="Microsoft Sans Serif"/>
                <a:cs typeface="Microsoft Sans Serif"/>
              </a:rPr>
              <a:t>Calculation</a:t>
            </a:r>
            <a:r>
              <a:rPr dirty="0" sz="100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34154"/>
                </a:solidFill>
                <a:latin typeface="Microsoft Sans Serif"/>
                <a:cs typeface="Microsoft Sans Serif"/>
              </a:rPr>
              <a:t>View</a:t>
            </a:r>
            <a:r>
              <a:rPr dirty="0" sz="100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34154"/>
                </a:solidFill>
                <a:latin typeface="Microsoft Sans Serif"/>
                <a:cs typeface="Microsoft Sans Serif"/>
              </a:rPr>
              <a:t>Derived</a:t>
            </a:r>
            <a:r>
              <a:rPr dirty="0" sz="100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0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34154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0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334154"/>
                </a:solidFill>
                <a:latin typeface="Microsoft Sans Serif"/>
                <a:cs typeface="Microsoft Sans Serif"/>
              </a:rPr>
              <a:t>Workspace.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provides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highly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future-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ready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semantic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extensibility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framework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users.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0000" y="102480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0000" y="3796575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0000" y="553965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0000" y="748275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7299" y="703568"/>
            <a:ext cx="6491605" cy="9063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8610" indent="-295910">
              <a:lnSpc>
                <a:spcPct val="100000"/>
              </a:lnSpc>
              <a:spcBef>
                <a:spcPts val="100"/>
              </a:spcBef>
              <a:buClr>
                <a:srgbClr val="0369A1"/>
              </a:buClr>
              <a:buFont typeface="Arial"/>
              <a:buAutoNum type="arabicPeriod" startAt="23"/>
              <a:tabLst>
                <a:tab pos="308610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BUSINESS</a:t>
            </a:r>
            <a:r>
              <a:rPr dirty="0" sz="1400" spc="-8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CASE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delivers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measurable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transformation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across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intelligence lifecycle: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lvl="1" marL="392430" indent="-147320">
              <a:lnSpc>
                <a:spcPct val="100000"/>
              </a:lnSpc>
              <a:buClr>
                <a:srgbClr val="334154"/>
              </a:buClr>
              <a:buFont typeface="Microsoft Sans Serif"/>
              <a:buAutoNum type="arabicPeriod"/>
              <a:tabLst>
                <a:tab pos="3924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Time-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to-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Insight: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Reduces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multi-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hour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manual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hunts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near-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instant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automated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investigations.</a:t>
            </a:r>
            <a:endParaRPr sz="1050">
              <a:latin typeface="Microsoft Sans Serif"/>
              <a:cs typeface="Microsoft Sans Serif"/>
            </a:endParaRPr>
          </a:p>
          <a:p>
            <a:pPr lvl="1" marL="392430" indent="-14732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24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Analyst</a:t>
            </a:r>
            <a:r>
              <a:rPr dirty="0" sz="1050" spc="-4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Productivity:</a:t>
            </a:r>
            <a:r>
              <a:rPr dirty="0" sz="105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Frees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teams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routine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anomaly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reporting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focus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strategic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initiatives.</a:t>
            </a:r>
            <a:endParaRPr sz="1050">
              <a:latin typeface="Microsoft Sans Serif"/>
              <a:cs typeface="Microsoft Sans Serif"/>
            </a:endParaRPr>
          </a:p>
          <a:p>
            <a:pPr lvl="1" marL="392430" marR="132080" indent="-14732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37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Faster</a:t>
            </a:r>
            <a:r>
              <a:rPr dirty="0" sz="105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Operational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Response:</a:t>
            </a:r>
            <a:r>
              <a:rPr dirty="0" sz="105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Delivers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ranked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immediately,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closing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gap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between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failure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correction.</a:t>
            </a:r>
            <a:endParaRPr sz="1050">
              <a:latin typeface="Microsoft Sans Serif"/>
              <a:cs typeface="Microsoft Sans Serif"/>
            </a:endParaRPr>
          </a:p>
          <a:p>
            <a:pPr lvl="1" marL="392430" indent="-14732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24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Role-Specific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Decision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Support: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Ensures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right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manager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gets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right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levers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immediately.</a:t>
            </a:r>
            <a:endParaRPr sz="1050">
              <a:latin typeface="Microsoft Sans Serif"/>
              <a:cs typeface="Microsoft Sans Serif"/>
            </a:endParaRPr>
          </a:p>
          <a:p>
            <a:pPr lvl="1" marL="392430" indent="-14732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24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Explainability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Consistency: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Eliminates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ad-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hoc,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subjective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interpretation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metric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movements.</a:t>
            </a:r>
            <a:endParaRPr sz="1050">
              <a:latin typeface="Microsoft Sans Serif"/>
              <a:cs typeface="Microsoft Sans Serif"/>
            </a:endParaRPr>
          </a:p>
          <a:p>
            <a:pPr lvl="1" marL="392430" marR="158115" indent="-14732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37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Institutional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Learning: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feedback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loop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ensures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employee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expertise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captured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codified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into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over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time.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994"/>
              </a:spcBef>
              <a:buClr>
                <a:srgbClr val="334154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24"/>
              <a:tabLst>
                <a:tab pos="308610" algn="l"/>
              </a:tabLst>
            </a:pP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TARGET</a:t>
            </a:r>
            <a:r>
              <a:rPr dirty="0" sz="1400" spc="-4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MARKET</a:t>
            </a:r>
            <a:endParaRPr sz="1400">
              <a:latin typeface="Arial"/>
              <a:cs typeface="Arial"/>
            </a:endParaRPr>
          </a:p>
          <a:p>
            <a:pPr marL="12700" marR="252095">
              <a:lnSpc>
                <a:spcPct val="125000"/>
              </a:lnSpc>
              <a:spcBef>
                <a:spcPts val="124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While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initial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demonstrated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e-commerce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dataset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because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provides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universally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understood KPI chain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(Traffic</a:t>
            </a:r>
            <a:r>
              <a:rPr dirty="0" sz="1050" spc="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→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Conversion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→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Revenue),</a:t>
            </a:r>
            <a:r>
              <a:rPr dirty="0" sz="1050" spc="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 is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fundamentally</a:t>
            </a:r>
            <a:r>
              <a:rPr dirty="0" sz="1050" spc="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industry-agnostic.</a:t>
            </a:r>
            <a:endParaRPr sz="1050">
              <a:latin typeface="Microsoft Sans Serif"/>
              <a:cs typeface="Microsoft Sans Serif"/>
            </a:endParaRPr>
          </a:p>
          <a:p>
            <a:pPr marL="12700" marR="5080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Because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core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engine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mathematical,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semantics,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personas,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catalogs</a:t>
            </a:r>
            <a:r>
              <a:rPr dirty="0" sz="1050" spc="50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entirely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configuration-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driven.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makes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immediately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applicable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SaaS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(churn,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MRR),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retail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(footfall,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inventory),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digital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(CAC,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ROAS),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subscription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businesses,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marketplaces,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general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operations.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spcBef>
                <a:spcPts val="5"/>
              </a:spcBef>
              <a:buClr>
                <a:srgbClr val="0369A1"/>
              </a:buClr>
              <a:buFont typeface="Arial"/>
              <a:buAutoNum type="arabicPeriod" startAt="25"/>
              <a:tabLst>
                <a:tab pos="308610" algn="l"/>
              </a:tabLst>
            </a:pP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SCALABILITY</a:t>
            </a:r>
            <a:endParaRPr sz="1400">
              <a:latin typeface="Arial"/>
              <a:cs typeface="Arial"/>
            </a:endParaRPr>
          </a:p>
          <a:p>
            <a:pPr marL="12700" marR="211454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architected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expansive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growth.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scale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single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unit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multi-tenant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deployment.</a:t>
            </a:r>
            <a:endParaRPr sz="1050">
              <a:latin typeface="Microsoft Sans Serif"/>
              <a:cs typeface="Microsoft Sans Serif"/>
            </a:endParaRPr>
          </a:p>
          <a:p>
            <a:pPr marL="12700" marR="97790">
              <a:lnSpc>
                <a:spcPct val="125000"/>
              </a:lnSpc>
              <a:spcBef>
                <a:spcPts val="7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modular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architecture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abstracts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ingestion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LLM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provider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layers,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paving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way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warehouse-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native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operation.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deployment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scales,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positioned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integrate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directly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connectors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like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Snowflake,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Databricks,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Microsoft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Fabric,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standard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platform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APIs,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moving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computation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closer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where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already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lives.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26"/>
              <a:tabLst>
                <a:tab pos="308610" algn="l"/>
              </a:tabLst>
            </a:pPr>
            <a:r>
              <a:rPr dirty="0" sz="1400" spc="-25" b="1">
                <a:solidFill>
                  <a:srgbClr val="0369A1"/>
                </a:solidFill>
                <a:latin typeface="Arial"/>
                <a:cs typeface="Arial"/>
              </a:rPr>
              <a:t>LIMITATIONS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AND</a:t>
            </a:r>
            <a:r>
              <a:rPr dirty="0" sz="1400" spc="-2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RESPONSIBLE</a:t>
            </a:r>
            <a:r>
              <a:rPr dirty="0" sz="1400" spc="-2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SCOPE</a:t>
            </a:r>
            <a:endParaRPr sz="1400">
              <a:latin typeface="Arial"/>
              <a:cs typeface="Arial"/>
            </a:endParaRPr>
          </a:p>
          <a:p>
            <a:pPr marL="12700" marR="276225">
              <a:lnSpc>
                <a:spcPct val="125000"/>
              </a:lnSpc>
              <a:spcBef>
                <a:spcPts val="123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built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philosophy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responsible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AI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transparent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engineering.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acknowledge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following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controlled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boundaries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their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direct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expansion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paths:</a:t>
            </a:r>
            <a:endParaRPr sz="1050">
              <a:latin typeface="Microsoft Sans Serif"/>
              <a:cs typeface="Microsoft Sans Serif"/>
            </a:endParaRPr>
          </a:p>
          <a:p>
            <a:pPr marL="201930" marR="61594" indent="-82550">
              <a:lnSpc>
                <a:spcPct val="125000"/>
              </a:lnSpc>
              <a:spcBef>
                <a:spcPts val="855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Ingestion</a:t>
            </a:r>
            <a:r>
              <a:rPr dirty="0" sz="1050" spc="-5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Boundaries:</a:t>
            </a:r>
            <a:r>
              <a:rPr dirty="0" sz="1050" spc="-5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current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utilizes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controlled</a:t>
            </a:r>
            <a:r>
              <a:rPr dirty="0" sz="1050" spc="-4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CSV</a:t>
            </a:r>
            <a:r>
              <a:rPr dirty="0" sz="1050" spc="-3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ingestion.</a:t>
            </a:r>
            <a:r>
              <a:rPr dirty="0" sz="1050" spc="-5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Expansion:</a:t>
            </a:r>
            <a:r>
              <a:rPr dirty="0" sz="1050" spc="-5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Production 	deployments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will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replace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CSV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ingestion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governed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warehouse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API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connectors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without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altering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the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downstream</a:t>
            </a:r>
            <a:r>
              <a:rPr dirty="0" sz="1050" spc="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050" spc="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pipeline.</a:t>
            </a:r>
            <a:endParaRPr sz="1050">
              <a:latin typeface="Microsoft Sans Serif"/>
              <a:cs typeface="Microsoft Sans Serif"/>
            </a:endParaRPr>
          </a:p>
          <a:p>
            <a:pPr marL="201930" marR="411480" indent="-82550">
              <a:lnSpc>
                <a:spcPct val="125000"/>
              </a:lnSpc>
              <a:spcBef>
                <a:spcPts val="4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Historical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Window: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operates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limited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historical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dataset.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Expansion: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Cloud-native 	deployment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will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leverage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full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lakes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deeper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baseline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generation.</a:t>
            </a:r>
            <a:endParaRPr sz="1050">
              <a:latin typeface="Microsoft Sans Serif"/>
              <a:cs typeface="Microsoft Sans Serif"/>
            </a:endParaRPr>
          </a:p>
          <a:p>
            <a:pPr marL="201930" marR="170815" indent="-82550">
              <a:lnSpc>
                <a:spcPct val="129000"/>
              </a:lnSpc>
              <a:spcBef>
                <a:spcPts val="25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Feedback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Learning: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Recommendation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learning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currently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constrained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finite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feedback.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Expansion:</a:t>
            </a:r>
            <a:r>
              <a:rPr dirty="0" sz="1050" spc="-3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user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volume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grows,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ranking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signal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will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natively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mature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via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standard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reinforcement 	loops.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0000" y="102480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0000" y="388230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0000" y="6295697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27299" y="703568"/>
            <a:ext cx="6476365" cy="906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8610" indent="-295910">
              <a:lnSpc>
                <a:spcPct val="100000"/>
              </a:lnSpc>
              <a:spcBef>
                <a:spcPts val="100"/>
              </a:spcBef>
              <a:buClr>
                <a:srgbClr val="0369A1"/>
              </a:buClr>
              <a:buFont typeface="Arial"/>
              <a:buAutoNum type="arabicPeriod" startAt="27"/>
              <a:tabLst>
                <a:tab pos="308610" algn="l"/>
              </a:tabLst>
            </a:pP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ROADMAP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155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architecture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 supports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clear,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phased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progression:</a:t>
            </a:r>
            <a:endParaRPr sz="1050">
              <a:latin typeface="Microsoft Sans Serif"/>
              <a:cs typeface="Microsoft Sans Serif"/>
            </a:endParaRPr>
          </a:p>
          <a:p>
            <a:pPr algn="just" lvl="1" marL="201930" marR="5080" indent="-82550">
              <a:lnSpc>
                <a:spcPct val="125000"/>
              </a:lnSpc>
              <a:spcBef>
                <a:spcPts val="75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Phase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1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—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Intelligence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Prototype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(Current):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End-to-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intelligence-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to-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pipeline,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deterministic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analytics,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RAG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evidence,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personas,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recommendation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ranking,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feedback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loops,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reporting.</a:t>
            </a:r>
            <a:endParaRPr sz="1050">
              <a:latin typeface="Microsoft Sans Serif"/>
              <a:cs typeface="Microsoft Sans Serif"/>
            </a:endParaRPr>
          </a:p>
          <a:p>
            <a:pPr algn="just" lvl="1" marL="201930" marR="602615" indent="-8255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Phase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2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—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Enterprise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Hardening: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Stronger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entitlement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enforcement,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richer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telemetry, broader 	reconciliation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coverage,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deployment/security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hardening,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API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connector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frameworks,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caching 	optimization.</a:t>
            </a:r>
            <a:endParaRPr sz="1050">
              <a:latin typeface="Microsoft Sans Serif"/>
              <a:cs typeface="Microsoft Sans Serif"/>
            </a:endParaRPr>
          </a:p>
          <a:p>
            <a:pPr lvl="1" marL="201930" marR="123825" indent="-8255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Phase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3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—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Scale: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Multi-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tenant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architecture,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warehouse-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native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ingestion,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enterprise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connectors,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broader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industry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configuration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packs,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continuous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learning,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drift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monitoring.</a:t>
            </a:r>
            <a:endParaRPr sz="1050">
              <a:latin typeface="Microsoft Sans Serif"/>
              <a:cs typeface="Microsoft Sans Serif"/>
            </a:endParaRPr>
          </a:p>
          <a:p>
            <a:pPr lvl="1" marL="201930" marR="342900" indent="-8255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Phase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4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—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Advanced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Intelligence: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Causal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inference,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proactive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alerting,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scenario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simulation,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action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outcome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prediction,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automated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monitoring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execution.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994"/>
              </a:spcBef>
              <a:buFont typeface="Microsoft Sans Serif"/>
              <a:buChar char="•"/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28"/>
              <a:tabLst>
                <a:tab pos="308610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RISK</a:t>
            </a:r>
            <a:r>
              <a:rPr dirty="0" sz="1400" spc="-3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AND</a:t>
            </a:r>
            <a:r>
              <a:rPr dirty="0" sz="1400" spc="-3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MITIGATION</a:t>
            </a:r>
            <a:endParaRPr sz="1400">
              <a:latin typeface="Arial"/>
              <a:cs typeface="Arial"/>
            </a:endParaRPr>
          </a:p>
          <a:p>
            <a:pPr lvl="1" marL="201930" marR="267335" indent="-82550">
              <a:lnSpc>
                <a:spcPct val="125000"/>
              </a:lnSpc>
              <a:spcBef>
                <a:spcPts val="134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Risk: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Sparse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History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/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Data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Quality.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Impact: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Erroneous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baselines.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Mitigation:</a:t>
            </a:r>
            <a:r>
              <a:rPr dirty="0" sz="1050" spc="-3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Abstention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engine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strictly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lowers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explicitly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flags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uncertainty.</a:t>
            </a:r>
            <a:endParaRPr sz="1050">
              <a:latin typeface="Microsoft Sans Serif"/>
              <a:cs typeface="Microsoft Sans Serif"/>
            </a:endParaRPr>
          </a:p>
          <a:p>
            <a:pPr lvl="1" marL="201930" marR="537845" indent="-82550">
              <a:lnSpc>
                <a:spcPct val="125000"/>
              </a:lnSpc>
              <a:spcBef>
                <a:spcPts val="4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Risk: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LLM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Cost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Rate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Limits.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Impact: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Unscalable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economics.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Mitigation:</a:t>
            </a:r>
            <a:r>
              <a:rPr dirty="0" sz="1050" spc="-3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Telemetry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monitoring,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decoupling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deterministic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math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LLM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calls,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future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caching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architectures.</a:t>
            </a:r>
            <a:endParaRPr sz="1050">
              <a:latin typeface="Microsoft Sans Serif"/>
              <a:cs typeface="Microsoft Sans Serif"/>
            </a:endParaRPr>
          </a:p>
          <a:p>
            <a:pPr lvl="1" marL="201930" marR="459740" indent="-82550">
              <a:lnSpc>
                <a:spcPct val="125000"/>
              </a:lnSpc>
              <a:spcBef>
                <a:spcPts val="4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Risk: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Provider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Dependency.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Impact: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Lock-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in.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Mitigation: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Agnostic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prompt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structuring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modular 	architecture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allowing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seamless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model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substitution.</a:t>
            </a:r>
            <a:endParaRPr sz="1050">
              <a:latin typeface="Microsoft Sans Serif"/>
              <a:cs typeface="Microsoft Sans Serif"/>
            </a:endParaRPr>
          </a:p>
          <a:p>
            <a:pPr lvl="1" marL="201930" marR="568325" indent="-82550">
              <a:lnSpc>
                <a:spcPct val="125000"/>
              </a:lnSpc>
              <a:spcBef>
                <a:spcPts val="400"/>
              </a:spcBef>
              <a:buClr>
                <a:srgbClr val="334154"/>
              </a:buClr>
              <a:buFont typeface="Microsoft Sans Serif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Risk: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Contradictory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Evidence.</a:t>
            </a:r>
            <a:r>
              <a:rPr dirty="0" sz="1050" spc="-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334154"/>
                </a:solidFill>
                <a:latin typeface="Arial"/>
                <a:cs typeface="Arial"/>
              </a:rPr>
              <a:t>Impact:</a:t>
            </a:r>
            <a:r>
              <a:rPr dirty="0" sz="1050" spc="-20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Confusing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narratives. </a:t>
            </a:r>
            <a:r>
              <a:rPr dirty="0" sz="1050" spc="-10" i="1">
                <a:solidFill>
                  <a:srgbClr val="334154"/>
                </a:solidFill>
                <a:latin typeface="Arial"/>
                <a:cs typeface="Arial"/>
              </a:rPr>
              <a:t>Mitigation:</a:t>
            </a:r>
            <a:r>
              <a:rPr dirty="0" sz="1050" spc="-25" i="1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Quantitative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truth</a:t>
            </a:r>
            <a:r>
              <a:rPr dirty="0" sz="1050" spc="-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takes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precedence;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semantic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search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enforces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date-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first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filtering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ensure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relevance.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994"/>
              </a:spcBef>
              <a:buFont typeface="Microsoft Sans Serif"/>
              <a:buChar char="•"/>
            </a:pPr>
            <a:endParaRPr sz="1050">
              <a:latin typeface="Microsoft Sans Serif"/>
              <a:cs typeface="Microsoft Sans Serif"/>
            </a:endParaRPr>
          </a:p>
          <a:p>
            <a:pPr marL="308610" indent="-295910">
              <a:lnSpc>
                <a:spcPct val="100000"/>
              </a:lnSpc>
              <a:buClr>
                <a:srgbClr val="0369A1"/>
              </a:buClr>
              <a:buFont typeface="Arial"/>
              <a:buAutoNum type="arabicPeriod" startAt="28"/>
              <a:tabLst>
                <a:tab pos="308610" algn="l"/>
              </a:tabLst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DEMO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SCENARIO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1550"/>
              </a:spcBef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The</a:t>
            </a:r>
            <a:r>
              <a:rPr dirty="0" sz="1050" spc="1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Investigation</a:t>
            </a:r>
            <a:r>
              <a:rPr dirty="0" sz="1050" spc="1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Walkthrough: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Arial"/>
              <a:cs typeface="Arial"/>
            </a:endParaRPr>
          </a:p>
          <a:p>
            <a:pPr marL="392430" indent="-147320">
              <a:lnSpc>
                <a:spcPct val="100000"/>
              </a:lnSpc>
              <a:buClr>
                <a:srgbClr val="334154"/>
              </a:buClr>
              <a:buFont typeface="Microsoft Sans Serif"/>
              <a:buAutoNum type="arabicPeriod"/>
              <a:tabLst>
                <a:tab pos="3924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Detection: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BID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flags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significant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revenue anomaly.</a:t>
            </a:r>
            <a:endParaRPr sz="1050">
              <a:latin typeface="Microsoft Sans Serif"/>
              <a:cs typeface="Microsoft Sans Serif"/>
            </a:endParaRPr>
          </a:p>
          <a:p>
            <a:pPr marL="392430" marR="522605" indent="-14732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37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Magnitude</a:t>
            </a:r>
            <a:r>
              <a:rPr dirty="0" sz="105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105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Context:</a:t>
            </a:r>
            <a:r>
              <a:rPr dirty="0" sz="1050" spc="-4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identifies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magnitude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inspects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related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KPIs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(Traffic, 	Conversion,</a:t>
            </a:r>
            <a:r>
              <a:rPr dirty="0" sz="1050" spc="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AOV).</a:t>
            </a:r>
            <a:endParaRPr sz="1050">
              <a:latin typeface="Microsoft Sans Serif"/>
              <a:cs typeface="Microsoft Sans Serif"/>
            </a:endParaRPr>
          </a:p>
          <a:p>
            <a:pPr marL="392430" marR="85090" indent="-14732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37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Root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Cause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Ranking: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Deterministic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driver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contribution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identifies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ranks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causes,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highlighting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major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collapse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in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specific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product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category.</a:t>
            </a:r>
            <a:endParaRPr sz="1050">
              <a:latin typeface="Microsoft Sans Serif"/>
              <a:cs typeface="Microsoft Sans Serif"/>
            </a:endParaRPr>
          </a:p>
          <a:p>
            <a:pPr marL="392430" marR="175895" indent="-14732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37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Evidence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Grounding: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RAG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retrieves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highly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relevant,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recent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customer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support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evidence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detailing</a:t>
            </a:r>
            <a:r>
              <a:rPr dirty="0" sz="1050" spc="-3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supply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chain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delay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exact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product.</a:t>
            </a:r>
            <a:endParaRPr sz="1050">
              <a:latin typeface="Microsoft Sans Serif"/>
              <a:cs typeface="Microsoft Sans Serif"/>
            </a:endParaRPr>
          </a:p>
          <a:p>
            <a:pPr marL="392430" marR="197485" indent="-14732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37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Confidence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Check: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calculates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high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score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due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aligning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quantitative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and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qualitative</a:t>
            </a:r>
            <a:r>
              <a:rPr dirty="0" sz="1050" spc="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signals.</a:t>
            </a:r>
            <a:endParaRPr sz="1050">
              <a:latin typeface="Microsoft Sans Serif"/>
              <a:cs typeface="Microsoft Sans Serif"/>
            </a:endParaRPr>
          </a:p>
          <a:p>
            <a:pPr marL="392430" marR="305435" indent="-14732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37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Persona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Delivery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F162A"/>
                </a:solidFill>
                <a:latin typeface="Arial"/>
                <a:cs typeface="Arial"/>
              </a:rPr>
              <a:t>(Marketing):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Marketing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Manager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receives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acquisition-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focused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narrative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advising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them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pause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ad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spend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out-of-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stock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category.</a:t>
            </a:r>
            <a:endParaRPr sz="1050">
              <a:latin typeface="Microsoft Sans Serif"/>
              <a:cs typeface="Microsoft Sans Serif"/>
            </a:endParaRPr>
          </a:p>
          <a:p>
            <a:pPr marL="392430" marR="244475" indent="-147320">
              <a:lnSpc>
                <a:spcPct val="125000"/>
              </a:lnSpc>
              <a:spcBef>
                <a:spcPts val="300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370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Persona</a:t>
            </a:r>
            <a:r>
              <a:rPr dirty="0" sz="1050" spc="-3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Delivery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(Sales/Ops):</a:t>
            </a:r>
            <a:r>
              <a:rPr dirty="0" sz="1050" spc="-3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Operations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Manager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receives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fulfilment-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focused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narrative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to 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	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investigate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vendor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SLA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breaches.</a:t>
            </a:r>
            <a:endParaRPr sz="1050">
              <a:latin typeface="Microsoft Sans Serif"/>
              <a:cs typeface="Microsoft Sans Serif"/>
            </a:endParaRPr>
          </a:p>
          <a:p>
            <a:pPr marL="392430" indent="-147320">
              <a:lnSpc>
                <a:spcPct val="100000"/>
              </a:lnSpc>
              <a:spcBef>
                <a:spcPts val="615"/>
              </a:spcBef>
              <a:buClr>
                <a:srgbClr val="334154"/>
              </a:buClr>
              <a:buFont typeface="Microsoft Sans Serif"/>
              <a:buAutoNum type="arabicPeriod"/>
              <a:tabLst>
                <a:tab pos="392430" algn="l"/>
              </a:tabLst>
            </a:pP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Action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Ranking:</a:t>
            </a:r>
            <a:r>
              <a:rPr dirty="0" sz="1050" spc="-2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recommendation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engine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surfaces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highest-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ranked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actions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for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both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 roles.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0000" y="190110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CAD4E1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9999" y="2005875"/>
          <a:ext cx="6556375" cy="6504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5890"/>
                <a:gridCol w="1886585"/>
                <a:gridCol w="1457960"/>
                <a:gridCol w="1720850"/>
              </a:tblGrid>
              <a:tr h="561975">
                <a:tc>
                  <a:txBody>
                    <a:bodyPr/>
                    <a:lstStyle/>
                    <a:p>
                      <a:pPr marL="99695" marR="19875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Problem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Statement Requirement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How</a:t>
                      </a:r>
                      <a:r>
                        <a:rPr dirty="0" sz="950" spc="-2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BID</a:t>
                      </a:r>
                      <a:r>
                        <a:rPr dirty="0" sz="950" spc="-2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Addresses</a:t>
                      </a:r>
                      <a:r>
                        <a:rPr dirty="0" sz="950" spc="-2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It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61595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dirty="0" sz="950" spc="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/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Mechanism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Business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299085">
                        <a:lnSpc>
                          <a:spcPct val="125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1.</a:t>
                      </a:r>
                      <a:r>
                        <a:rPr dirty="0" sz="950" spc="-5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Detect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material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KPI</a:t>
                      </a:r>
                      <a:r>
                        <a:rPr dirty="0" sz="950" spc="-3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movements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8732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Identifies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movements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combining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statistical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deviation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business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thresholds.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276225">
                        <a:lnSpc>
                          <a:spcPct val="125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Rolling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3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z-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scores,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Prophet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forecasting.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41402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Eliminates</a:t>
                      </a:r>
                      <a:r>
                        <a:rPr dirty="0" sz="950" spc="-5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manual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dashboard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monitoring;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reduces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alert</a:t>
                      </a:r>
                      <a:r>
                        <a:rPr dirty="0" sz="950" spc="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fatigue.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133985">
                        <a:lnSpc>
                          <a:spcPct val="125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2. Reconcile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context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across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sources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7653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Aggregates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multi-grain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data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(transactions,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marketing,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support)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into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unified</a:t>
                      </a:r>
                      <a:r>
                        <a:rPr dirty="0" sz="950" spc="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timelines.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314325">
                        <a:lnSpc>
                          <a:spcPct val="125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SQL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Deterministic aggregation.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16839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Prevents</a:t>
                      </a:r>
                      <a:r>
                        <a:rPr dirty="0" sz="950" spc="-3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conflicting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interpretations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across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siloed departments.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195580">
                        <a:lnSpc>
                          <a:spcPct val="125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3.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Identify</a:t>
                      </a:r>
                      <a:r>
                        <a:rPr dirty="0" sz="950" spc="5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50" spc="5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rank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drivers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6383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Calculates</a:t>
                      </a:r>
                      <a:r>
                        <a:rPr dirty="0" sz="950" spc="-4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exact</a:t>
                      </a:r>
                      <a:r>
                        <a:rPr dirty="0" sz="950" spc="-4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variance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overlap to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identify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primary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secondary</a:t>
                      </a:r>
                      <a:r>
                        <a:rPr dirty="0" sz="950" spc="3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causes.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226695">
                        <a:lnSpc>
                          <a:spcPct val="125000"/>
                        </a:lnSpc>
                      </a:pP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Mathematical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contribution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analysis.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227329">
                        <a:lnSpc>
                          <a:spcPct val="125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Removes</a:t>
                      </a:r>
                      <a:r>
                        <a:rPr dirty="0" sz="950" spc="-4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guesswork</a:t>
                      </a:r>
                      <a:r>
                        <a:rPr dirty="0" sz="950" spc="-4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from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root-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cause</a:t>
                      </a:r>
                      <a:r>
                        <a:rPr dirty="0" sz="950" spc="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investigations.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99695" marR="19685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4.</a:t>
                      </a:r>
                      <a:r>
                        <a:rPr dirty="0" sz="950" spc="6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Persona-specific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narratives</a:t>
                      </a:r>
                      <a:r>
                        <a:rPr dirty="0" sz="950" spc="-45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&amp;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evidence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6827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Adapts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explanations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based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on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user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role,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grounded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date-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filtered</a:t>
                      </a:r>
                      <a:r>
                        <a:rPr dirty="0" sz="950" spc="-3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qualitative</a:t>
                      </a:r>
                      <a:r>
                        <a:rPr dirty="0" sz="950" spc="-3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data.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LLM</a:t>
                      </a:r>
                      <a:r>
                        <a:rPr dirty="0" sz="950" spc="-3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Narrative</a:t>
                      </a:r>
                      <a:r>
                        <a:rPr dirty="0" sz="950" spc="-3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Engine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  <a:p>
                      <a:pPr marL="99695" marR="331470">
                        <a:lnSpc>
                          <a:spcPct val="125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RAG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Cosine Similarity.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715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5430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Ensures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intelligence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is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immediately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actionable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trusted.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99695" marR="36576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5.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Communicate uncertainty (Abstention)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5684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Explicitly</a:t>
                      </a:r>
                      <a:r>
                        <a:rPr dirty="0" sz="950" spc="-3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lowers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confidence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when data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is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sparse or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signals conflict.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299085">
                        <a:lnSpc>
                          <a:spcPct val="125000"/>
                        </a:lnSpc>
                      </a:pP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Deterministic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Confidence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Engine.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25527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Builds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trust;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prevents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AI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hallucinations and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unsafe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decision-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making.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344805">
                        <a:lnSpc>
                          <a:spcPct val="125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6.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Recommend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practical</a:t>
                      </a:r>
                      <a:r>
                        <a:rPr dirty="0" sz="950" spc="-5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actions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306705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Maps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drivers to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controllable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levers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ranks them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via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historical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feedback.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423545">
                        <a:lnSpc>
                          <a:spcPct val="125000"/>
                        </a:lnSpc>
                      </a:pPr>
                      <a:r>
                        <a:rPr dirty="0" sz="950" spc="-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ML-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ranked</a:t>
                      </a:r>
                      <a:r>
                        <a:rPr dirty="0" sz="950" spc="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Action Catalog.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358140">
                        <a:lnSpc>
                          <a:spcPct val="125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Accelerates</a:t>
                      </a:r>
                      <a:r>
                        <a:rPr dirty="0" sz="950" spc="-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operational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response</a:t>
                      </a:r>
                      <a:r>
                        <a:rPr dirty="0" sz="950" spc="-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time.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533400">
                        <a:lnSpc>
                          <a:spcPct val="125000"/>
                        </a:lnSpc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7.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Learn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from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feedback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32512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Captures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user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ratings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outcomes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improve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future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action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ranking.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8415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Closed-loop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feedback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storage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ML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scoring.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370840">
                        <a:lnSpc>
                          <a:spcPct val="125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Creates</a:t>
                      </a:r>
                      <a:r>
                        <a:rPr dirty="0" sz="950" spc="-4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compounding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institutional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knowledge.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99695" marR="43688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8. </a:t>
                      </a:r>
                      <a:r>
                        <a:rPr dirty="0" sz="950" spc="-10" b="1">
                          <a:solidFill>
                            <a:srgbClr val="0F162A"/>
                          </a:solidFill>
                          <a:latin typeface="Arial"/>
                          <a:cs typeface="Arial"/>
                        </a:rPr>
                        <a:t>Realistic constraints (Security/Cost)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3970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Implements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role-based</a:t>
                      </a:r>
                      <a:r>
                        <a:rPr dirty="0" sz="950" spc="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access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tracks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tokens/latency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per </a:t>
                      </a:r>
                      <a:r>
                        <a:rPr dirty="0" sz="950" spc="-2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run.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695" marR="92710">
                        <a:lnSpc>
                          <a:spcPct val="125000"/>
                        </a:lnSpc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Persona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Entitlements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Runtime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Telemetry.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245110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Ensures</a:t>
                      </a:r>
                      <a:r>
                        <a:rPr dirty="0" sz="950" spc="-1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enterprise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scalability,</a:t>
                      </a:r>
                      <a:r>
                        <a:rPr dirty="0" sz="950" spc="-4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security,</a:t>
                      </a:r>
                      <a:r>
                        <a:rPr dirty="0" sz="950" spc="-4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2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dirty="0" sz="95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profitable unit</a:t>
                      </a:r>
                      <a:r>
                        <a:rPr dirty="0" sz="950" spc="5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50" spc="-10">
                          <a:solidFill>
                            <a:srgbClr val="334154"/>
                          </a:solidFill>
                          <a:latin typeface="Microsoft Sans Serif"/>
                          <a:cs typeface="Microsoft Sans Serif"/>
                        </a:rPr>
                        <a:t>economics.</a:t>
                      </a:r>
                      <a:endParaRPr sz="9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27299" y="664495"/>
            <a:ext cx="6233795" cy="115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0" marR="5080" indent="-148590">
              <a:lnSpc>
                <a:spcPct val="125000"/>
              </a:lnSpc>
              <a:spcBef>
                <a:spcPts val="100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9.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Feedback:</a:t>
            </a:r>
            <a:r>
              <a:rPr dirty="0" sz="1050" spc="-25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analyst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logs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feedback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on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recommendation,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which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system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captures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refine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future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ML</a:t>
            </a:r>
            <a:r>
              <a:rPr dirty="0" sz="1050" spc="-1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rankings.</a:t>
            </a:r>
            <a:endParaRPr sz="1050">
              <a:latin typeface="Microsoft Sans Serif"/>
              <a:cs typeface="Microsoft Sans Serif"/>
            </a:endParaRPr>
          </a:p>
          <a:p>
            <a:pPr marL="170815">
              <a:lnSpc>
                <a:spcPct val="100000"/>
              </a:lnSpc>
              <a:spcBef>
                <a:spcPts val="615"/>
              </a:spcBef>
            </a:pP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10.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b="1">
                <a:solidFill>
                  <a:srgbClr val="0F162A"/>
                </a:solidFill>
                <a:latin typeface="Arial"/>
                <a:cs typeface="Arial"/>
              </a:rPr>
              <a:t>Observability:</a:t>
            </a:r>
            <a:r>
              <a:rPr dirty="0" sz="1050" spc="-40" b="1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Runtime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telemetry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logs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latency,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token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usage,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cost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of</a:t>
            </a:r>
            <a:r>
              <a:rPr dirty="0" sz="1050" spc="-25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334154"/>
                </a:solidFill>
                <a:latin typeface="Microsoft Sans Serif"/>
                <a:cs typeface="Microsoft Sans Serif"/>
              </a:rPr>
              <a:t>the</a:t>
            </a:r>
            <a:r>
              <a:rPr dirty="0" sz="1050" spc="-20">
                <a:solidFill>
                  <a:srgbClr val="33415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334154"/>
                </a:solidFill>
                <a:latin typeface="Microsoft Sans Serif"/>
                <a:cs typeface="Microsoft Sans Serif"/>
              </a:rPr>
              <a:t>interaction.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30.</a:t>
            </a:r>
            <a:r>
              <a:rPr dirty="0" sz="1400" spc="-35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369A1"/>
                </a:solidFill>
                <a:latin typeface="Arial"/>
                <a:cs typeface="Arial"/>
              </a:rPr>
              <a:t>REQUIREMENT</a:t>
            </a:r>
            <a:r>
              <a:rPr dirty="0" sz="1400" spc="-30" b="1">
                <a:solidFill>
                  <a:srgbClr val="0369A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369A1"/>
                </a:solidFill>
                <a:latin typeface="Arial"/>
                <a:cs typeface="Arial"/>
              </a:rPr>
              <a:t>TRACEABILITY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 Business Proposal</dc:title>
  <dcterms:created xsi:type="dcterms:W3CDTF">2026-09-02T16:26:28Z</dcterms:created>
  <dcterms:modified xsi:type="dcterms:W3CDTF">2026-09-02T16:26:28Z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2026-09-02T00:00:00Z</vt:filetime>
  </property>
  <property fmtid="{D5CDD505-2E9C-101B-9397-08002B2CF9AE}" pid="4" name="Producer">
    <vt:lpwstr>WeasyPrint 62.3</vt:lpwstr>
  </property>
  <property fmtid="{D5CDD505-2E9C-101B-9397-08002B2CF9AE}" pid="5" name="LastSaved">
    <vt:filetime>2026-09-02T00:00:00Z</vt:filetime>
  </property>
</Properties>
</file>